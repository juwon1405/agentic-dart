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Self-eval (8 cases)</c:v>
                </c:pt>
              </c:strCache>
            </c:strRef>
          </c:tx>
          <c:spPr>
            <a:solidFill>
              <a:srgbClr val="34D399"/>
            </a:solidFill>
            <a:effectLst/>
          </c:spPr>
          <c:invertIfNegative val="0"/>
          <c:dLbls>
            <c:numFmt formatCode="0&quot;%&quot;" sourceLinked="0"/>
            <c:txPr>
              <a:bodyPr/>
              <a:lstStyle/>
              <a:p>
                <a:pPr>
                  <a:defRPr b="0" i="0" strike="noStrike" sz="1100" u="none">
                    <a:solidFill>
                      <a:srgbClr val="E2E8F0"/>
                    </a:solidFill>
                    <a:latin typeface="Calibri"/>
                  </a:defRPr>
                </a:pPr>
              </a:p>
            </c:txPr>
            <c:showLegendKey val="0"/>
            <c:showVal val="1"/>
            <c:showCatName val="0"/>
            <c:showSerName val="0"/>
            <c:showPercent val="0"/>
            <c:showBubbleSize val="0"/>
            <c:showLeaderLines val="0"/>
          </c:dLbls>
          <c:cat>
            <c:strRef>
              <c:f>Sheet1!$A$2:$A$4</c:f>
              <c:strCache>
                <c:ptCount val="3"/>
                <c:pt idx="0">
                  <c:v>Haiku</c:v>
                </c:pt>
                <c:pt idx="1">
                  <c:v>Sonnet</c:v>
                </c:pt>
                <c:pt idx="2">
                  <c:v>Opus</c:v>
                </c:pt>
              </c:strCache>
            </c:strRef>
          </c:cat>
          <c:val>
            <c:numRef>
              <c:f>Sheet1!$B$2:$B$4</c:f>
              <c:numCache>
                <c:formatCode>General</c:formatCode>
                <c:ptCount val="3"/>
                <c:pt idx="0">
                  <c:v>75.6</c:v>
                </c:pt>
                <c:pt idx="1">
                  <c:v>85.4</c:v>
                </c:pt>
                <c:pt idx="2">
                  <c:v>89.0</c:v>
                </c:pt>
              </c:numCache>
            </c:numRef>
          </c:val>
        </c:ser>
        <c:ser>
          <c:idx val="1"/>
          <c:order val="1"/>
          <c:tx>
            <c:strRef>
              <c:f>Sheet1!$C$1</c:f>
              <c:strCache>
                <c:ptCount val="1"/>
                <c:pt idx="0">
                  <c:v>External (3 cases)</c:v>
                </c:pt>
              </c:strCache>
            </c:strRef>
          </c:tx>
          <c:spPr>
            <a:solidFill>
              <a:srgbClr val="FBBF24"/>
            </a:solidFill>
            <a:effectLst/>
          </c:spPr>
          <c:invertIfNegative val="0"/>
          <c:dLbls>
            <c:numFmt formatCode="0&quot;%&quot;" sourceLinked="0"/>
            <c:txPr>
              <a:bodyPr/>
              <a:lstStyle/>
              <a:p>
                <a:pPr>
                  <a:defRPr b="0" i="0" strike="noStrike" sz="1100" u="none">
                    <a:solidFill>
                      <a:srgbClr val="E2E8F0"/>
                    </a:solidFill>
                    <a:latin typeface="Calibri"/>
                  </a:defRPr>
                </a:pPr>
              </a:p>
            </c:txPr>
            <c:showLegendKey val="0"/>
            <c:showVal val="1"/>
            <c:showCatName val="0"/>
            <c:showSerName val="0"/>
            <c:showPercent val="0"/>
            <c:showBubbleSize val="0"/>
            <c:showLeaderLines val="0"/>
          </c:dLbls>
          <c:cat>
            <c:strRef>
              <c:f>Sheet1!$A$2:$A$4</c:f>
              <c:strCache>
                <c:ptCount val="3"/>
                <c:pt idx="0">
                  <c:v>Haiku</c:v>
                </c:pt>
                <c:pt idx="1">
                  <c:v>Sonnet</c:v>
                </c:pt>
                <c:pt idx="2">
                  <c:v>Opus</c:v>
                </c:pt>
              </c:strCache>
            </c:strRef>
          </c:cat>
          <c:val>
            <c:numRef>
              <c:f>Sheet1!$C$2:$C$4</c:f>
              <c:numCache>
                <c:formatCode>General</c:formatCode>
                <c:ptCount val="3"/>
                <c:pt idx="0">
                  <c:v>3.7</c:v>
                </c:pt>
                <c:pt idx="1">
                  <c:v>43.3</c:v>
                </c:pt>
                <c:pt idx="2">
                  <c:v>35.0</c:v>
                </c:pt>
              </c:numCache>
            </c:numRef>
          </c:val>
        </c:ser>
        <c:dLbls>
          <c:numFmt formatCode="0&quot;%&quot;" sourceLinked="0"/>
          <c:txPr>
            <a:bodyPr/>
            <a:lstStyle/>
            <a:p>
              <a:pPr>
                <a:defRPr b="0" i="0" strike="noStrike" sz="1100" u="none">
                  <a:solidFill>
                    <a:srgbClr val="E2E8F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94A3B8"/>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4A3B8"/>
                </a:solidFill>
                <a:latin typeface="Calibri"/>
              </a:defRPr>
            </a:pPr>
            <a:endParaRPr lang="en-US"/>
          </a:p>
        </c:txPr>
        <c:crossAx val="2094734554"/>
        <c:crosses val="autoZero"/>
        <c:crossBetween val="between"/>
      </c:valAx>
      <c:spPr>
        <a:solidFill>
          <a:srgbClr val="1E293B"/>
        </a:solidFill>
        <a:ln>
          <a:noFill/>
        </a:ln>
        <a:effectLst/>
      </c:spPr>
    </c:plotArea>
    <c:legend>
      <c:legendPos val="t"/>
      <c:overlay val="0"/>
      <c:txPr>
        <a:bodyPr/>
        <a:lstStyle/>
        <a:p>
          <a:pPr>
            <a:defRPr sz="1200">
              <a:solidFill>
                <a:srgbClr val="94A3B8"/>
              </a:solidFill>
              <a:latin typeface="Calibri"/>
              <a:cs typeface="Calibri"/>
            </a:defRPr>
          </a:pPr>
          <a:endParaRPr lang="en-US"/>
        </a:p>
      </c:txPr>
    </c:legend>
    <c:plotVisOnly val="1"/>
    <c:dispBlanksAs val="span"/>
  </c:chart>
  <c:spPr>
    <a:solidFill>
      <a:srgbClr val="1E293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one-liner: this is an autonomous DFIR agent, but the headline is not autonomy — it's that the architecture makes fabrication impossible. Every finding traces to a tool call. 73 read-only tools, hallucination zero by construction. Set the tone: measured, traceable, honest about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most agentic DFIR demos prove an LLM can produce a plausible report. But plausible isn't the bar — fabrication is the risk. A confident wrong finding gets acted on. You can't distinguish confirmed from inferred in prose. And nothing ties a claim back to the evidence. This is what we set out to make structurally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in one line: don't ask the model to behave — remove the ability to misbehave. Three pillars: a typed read-only surface where the function list IS the security boundary; evidence-bound claims where every finding needs an audit_id or it's blocked; and a self-correcting loop driven by a playbook that forces a contradiction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diagram makes the key distinction explicit: the Claude API layer is session ergonomics — there is NO security boundary there. The boundary is dart_mcp, enforced by the function surface, plus the OS-level read-only mount. This is what 'architecture-first, not prompt-first' means: the guarantee doesn't depend on the model following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constraint-implementation slide. The guarantee is architectural: destructive primitives simply don't exist in the registry, so there's nothing to jailbreak. It's tested for bypass on every push — destructive names raise ToolNotFound, the surface is an exact set so a new tool can't silently widen it, path traversal and SQL injection are blocked, and a write probe outside the evidence root resolves to zero. Note: I deliberately don't cite a single count of destructive names here — the lists differ slightly across files, so the honest statement is 'every destructive operation', checked by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packages. dart_mcp is the surface and primary enforcement. dart_audit seals every call into a SHA-256 chain. dart_agent runs the loop and holds the serializer that blocks un-cited claims. dart_corr is the DuckDB contradiction engine — UNRESOLVED records never auto-resolve. dart_playbook is the 10-phase playbook forcing a contradiction check. And the SIFT adapter layer wraps 25 external tools on the same read-only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Breadth comes from two layers on one wire. 48 native pure-Python functions cover disk, registry, EventLog, MFT, Prefetch, USB, auth, Kerberos, ADCS, DNS tunneling — broad ATT&amp;CK coverage. Plus 25 SIFT adapters wrapping the community's standard tools — Volatility 3, the EZ tools, YARA, Plaso — each inheriting the same read-only guarantee. Total: 73, verified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measured-not-claimed slide — and the most important one for credibility. Green bars: self-evaluation across 8 cases, Opus reaching 89%. Amber bars: external third-party corpora across 3 cases, much lower. We show this deliberately. Hallucination is zero throughout — low recall means missed coverage, never invention. And external sitting below self is not a regression: it's an honestly disclosed paradigm gap. Content-centric parsing is Phase 2, and the external data is exactly what tells us which feature to ship next. The honest claim is not that we're perfect — it's that everything is measured, traceable, and the limits aren't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Forensic soundness. Every input is SHA-256 hashed before and after — integrity verified, not assumed. Every tool call is sealed into a hash-linked chain with prev and entry hashes, so the whole run is replayable and tamper-evident. Confirmed versus unresolved versus false-positive is a typed field, not prose. And an anti-spoliation test asserts no input is mutated and any write outside the evidence root resolves to zero. This is what makes the output admissible reasoning, not just plausible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Self-correction is the tiebreaker criterion, and we show two kinds, both in the logs. Live hypothesis revision: the agent raises explicit contradictions — an after-hours logon against a daytime window, public-key SSH against a claimed password — and revises its chain; in another run it retracts a false attacker-created-account finding once the registry disproves it. And a deterministic, reproducible kind: in the committed reference run, the agent calls analyze_usb_history with a default window, sees the gap, and re-runs with an explicit time window — judges can reproduce it byte-for-byte. Not just getting it right; getting it wrong and fixing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effort slide — the honest story of what it took. The accuracy didn't come from a prompt. First we built the surface: 73 typed read-only tools, full suite green. Then we built the measurement itself — recall, false-positive rate, hallucination, evidence integrity, reproducible from one command. Then we went external — three independent corpora, decades old, that can't be training data. And critically, we let the external data reorder the roadmap: it turned 'add registry parsing someday' into 'ship it next.' Evidence over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Phase 1 — this submission — is architecturally complete and empirically validated: typed read-only surface, audit chain, self-correcting loop, measured accuracy. Phase 2 is content-centric expansion: broaden parsing against community corpora to close the external gap we just showed you honestly. Phase 3, design only, is supervised triage and response orchestration on the same audited foundation. Each phase builds on a guarantee that's already proven, not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message that ties it all together: the honest claim isn't that we're perfect — it's that every number is measured, every finding is traceable, and the limits aren't hidden. That's what makes an autonomous DFIR agent trustworthy. Analysis speed is security. Thank you to SANS for the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869680" y="-2011680"/>
            <a:ext cx="6035040" cy="6035040"/>
          </a:xfrm>
          <a:prstGeom prst="ellipse">
            <a:avLst/>
          </a:prstGeom>
          <a:solidFill>
            <a:srgbClr val="A78BFA">
              <a:alpha val="12000"/>
            </a:srgbClr>
          </a:solidFill>
          <a:ln/>
        </p:spPr>
      </p:sp>
      <p:sp>
        <p:nvSpPr>
          <p:cNvPr id="3" name="Shape 1"/>
          <p:cNvSpPr/>
          <p:nvPr/>
        </p:nvSpPr>
        <p:spPr>
          <a:xfrm>
            <a:off x="-1828800" y="4023360"/>
            <a:ext cx="5120640" cy="5120640"/>
          </a:xfrm>
          <a:prstGeom prst="ellipse">
            <a:avLst/>
          </a:prstGeom>
          <a:solidFill>
            <a:srgbClr val="38BDF8">
              <a:alpha val="10000"/>
            </a:srgbClr>
          </a:solidFill>
          <a:ln/>
        </p:spPr>
      </p:sp>
      <p:sp>
        <p:nvSpPr>
          <p:cNvPr id="4" name="Text 2"/>
          <p:cNvSpPr/>
          <p:nvPr/>
        </p:nvSpPr>
        <p:spPr>
          <a:xfrm>
            <a:off x="822960" y="1417320"/>
            <a:ext cx="10058400" cy="365760"/>
          </a:xfrm>
          <a:prstGeom prst="rect">
            <a:avLst/>
          </a:prstGeom>
          <a:noFill/>
          <a:ln/>
        </p:spPr>
        <p:txBody>
          <a:bodyPr wrap="square" lIns="0" tIns="0" rIns="0" bIns="0" rtlCol="0" anchor="ctr"/>
          <a:lstStyle/>
          <a:p>
            <a:pPr indent="0" marL="0">
              <a:buNone/>
            </a:pPr>
            <a:r>
              <a:rPr lang="en-US" sz="1400" b="1" spc="400" kern="0" dirty="0">
                <a:solidFill>
                  <a:srgbClr val="38BDF8"/>
                </a:solidFill>
                <a:latin typeface="Calibri" pitchFamily="34" charset="0"/>
                <a:ea typeface="Calibri" pitchFamily="34" charset="-122"/>
                <a:cs typeface="Calibri" pitchFamily="34" charset="-120"/>
              </a:rPr>
              <a:t>SANS FIND EVIL! 2026</a:t>
            </a:r>
            <a:endParaRPr lang="en-US" sz="1400" dirty="0"/>
          </a:p>
        </p:txBody>
      </p:sp>
      <p:sp>
        <p:nvSpPr>
          <p:cNvPr id="5" name="Text 3"/>
          <p:cNvSpPr/>
          <p:nvPr/>
        </p:nvSpPr>
        <p:spPr>
          <a:xfrm>
            <a:off x="777240" y="1874520"/>
            <a:ext cx="10607040" cy="1280160"/>
          </a:xfrm>
          <a:prstGeom prst="rect">
            <a:avLst/>
          </a:prstGeom>
          <a:noFill/>
          <a:ln/>
        </p:spPr>
        <p:txBody>
          <a:bodyPr wrap="square" lIns="0" tIns="0" rIns="0" bIns="0" rtlCol="0" anchor="ctr"/>
          <a:lstStyle/>
          <a:p>
            <a:pPr indent="0" marL="0">
              <a:buNone/>
            </a:pPr>
            <a:r>
              <a:rPr lang="en-US" sz="6400" b="1" dirty="0">
                <a:solidFill>
                  <a:srgbClr val="E2E8F0"/>
                </a:solidFill>
                <a:latin typeface="Cambria" pitchFamily="34" charset="0"/>
                <a:ea typeface="Cambria" pitchFamily="34" charset="-122"/>
                <a:cs typeface="Cambria" pitchFamily="34" charset="-120"/>
              </a:rPr>
              <a:t>Agentic-DART</a:t>
            </a:r>
            <a:endParaRPr lang="en-US" sz="6400" dirty="0"/>
          </a:p>
        </p:txBody>
      </p:sp>
      <p:sp>
        <p:nvSpPr>
          <p:cNvPr id="6" name="Text 4"/>
          <p:cNvSpPr/>
          <p:nvPr/>
        </p:nvSpPr>
        <p:spPr>
          <a:xfrm>
            <a:off x="822960" y="3337560"/>
            <a:ext cx="10241280" cy="1005840"/>
          </a:xfrm>
          <a:prstGeom prst="rect">
            <a:avLst/>
          </a:prstGeom>
          <a:noFill/>
          <a:ln/>
        </p:spPr>
        <p:txBody>
          <a:bodyPr wrap="square" lIns="0" tIns="0" rIns="0" bIns="0" rtlCol="0" anchor="ctr"/>
          <a:lstStyle/>
          <a:p>
            <a:pPr indent="0" marL="0">
              <a:lnSpc>
                <a:spcPct val="115000"/>
              </a:lnSpc>
              <a:buNone/>
            </a:pPr>
            <a:r>
              <a:rPr lang="en-US" sz="1900" dirty="0">
                <a:solidFill>
                  <a:srgbClr val="94A3B8"/>
                </a:solidFill>
                <a:latin typeface="Calibri" pitchFamily="34" charset="0"/>
                <a:ea typeface="Calibri" pitchFamily="34" charset="-122"/>
                <a:cs typeface="Calibri" pitchFamily="34" charset="-120"/>
              </a:rPr>
              <a:t>Autonomous DFIR triage on a typed, read-only MCP surface —</a:t>
            </a:r>
            <a:endParaRPr lang="en-US" sz="1900" dirty="0"/>
          </a:p>
          <a:p>
            <a:pPr indent="0" marL="0">
              <a:lnSpc>
                <a:spcPct val="115000"/>
              </a:lnSpc>
              <a:buNone/>
            </a:pPr>
            <a:r>
              <a:rPr lang="en-US" sz="1900" dirty="0">
                <a:solidFill>
                  <a:srgbClr val="94A3B8"/>
                </a:solidFill>
                <a:latin typeface="Calibri" pitchFamily="34" charset="0"/>
                <a:ea typeface="Calibri" pitchFamily="34" charset="-122"/>
                <a:cs typeface="Calibri" pitchFamily="34" charset="-120"/>
              </a:rPr>
              <a:t>where every finding is traceable to a tool call, and hallucination is structurally impossible.</a:t>
            </a:r>
            <a:endParaRPr lang="en-US" sz="1900" dirty="0"/>
          </a:p>
        </p:txBody>
      </p:sp>
      <p:sp>
        <p:nvSpPr>
          <p:cNvPr id="7" name="Shape 5"/>
          <p:cNvSpPr/>
          <p:nvPr/>
        </p:nvSpPr>
        <p:spPr>
          <a:xfrm>
            <a:off x="822960" y="4709160"/>
            <a:ext cx="2468880" cy="384048"/>
          </a:xfrm>
          <a:prstGeom prst="roundRect">
            <a:avLst>
              <a:gd name="adj" fmla="val 50000"/>
            </a:avLst>
          </a:prstGeom>
          <a:solidFill>
            <a:srgbClr val="172033"/>
          </a:solidFill>
          <a:ln w="12700">
            <a:solidFill>
              <a:srgbClr val="38BDF8"/>
            </a:solidFill>
            <a:prstDash val="solid"/>
          </a:ln>
        </p:spPr>
      </p:sp>
      <p:sp>
        <p:nvSpPr>
          <p:cNvPr id="8" name="Text 6"/>
          <p:cNvSpPr/>
          <p:nvPr/>
        </p:nvSpPr>
        <p:spPr>
          <a:xfrm>
            <a:off x="822960" y="4709160"/>
            <a:ext cx="2468880" cy="384048"/>
          </a:xfrm>
          <a:prstGeom prst="rect">
            <a:avLst/>
          </a:prstGeom>
          <a:noFill/>
          <a:ln/>
        </p:spPr>
        <p:txBody>
          <a:bodyPr wrap="square" lIns="0" tIns="0" rIns="0" bIns="0" rtlCol="0" anchor="ctr"/>
          <a:lstStyle/>
          <a:p>
            <a:pPr algn="ctr" indent="0" marL="0">
              <a:buNone/>
            </a:pPr>
            <a:r>
              <a:rPr lang="en-US" sz="1250" b="1" dirty="0">
                <a:solidFill>
                  <a:srgbClr val="38BDF8"/>
                </a:solidFill>
                <a:latin typeface="Calibri" pitchFamily="34" charset="0"/>
                <a:ea typeface="Calibri" pitchFamily="34" charset="-122"/>
                <a:cs typeface="Calibri" pitchFamily="34" charset="-120"/>
              </a:rPr>
              <a:t>73 read-only tools</a:t>
            </a:r>
            <a:endParaRPr lang="en-US" sz="1250" dirty="0"/>
          </a:p>
        </p:txBody>
      </p:sp>
      <p:sp>
        <p:nvSpPr>
          <p:cNvPr id="9" name="Shape 7"/>
          <p:cNvSpPr/>
          <p:nvPr/>
        </p:nvSpPr>
        <p:spPr>
          <a:xfrm>
            <a:off x="3429000" y="4709160"/>
            <a:ext cx="2468880" cy="384048"/>
          </a:xfrm>
          <a:prstGeom prst="roundRect">
            <a:avLst>
              <a:gd name="adj" fmla="val 50000"/>
            </a:avLst>
          </a:prstGeom>
          <a:solidFill>
            <a:srgbClr val="172033"/>
          </a:solidFill>
          <a:ln w="12700">
            <a:solidFill>
              <a:srgbClr val="34D399"/>
            </a:solidFill>
            <a:prstDash val="solid"/>
          </a:ln>
        </p:spPr>
      </p:sp>
      <p:sp>
        <p:nvSpPr>
          <p:cNvPr id="10" name="Text 8"/>
          <p:cNvSpPr/>
          <p:nvPr/>
        </p:nvSpPr>
        <p:spPr>
          <a:xfrm>
            <a:off x="3429000" y="4709160"/>
            <a:ext cx="2468880" cy="384048"/>
          </a:xfrm>
          <a:prstGeom prst="rect">
            <a:avLst/>
          </a:prstGeom>
          <a:noFill/>
          <a:ln/>
        </p:spPr>
        <p:txBody>
          <a:bodyPr wrap="square" lIns="0" tIns="0" rIns="0" bIns="0" rtlCol="0" anchor="ctr"/>
          <a:lstStyle/>
          <a:p>
            <a:pPr algn="ctr" indent="0" marL="0">
              <a:buNone/>
            </a:pPr>
            <a:r>
              <a:rPr lang="en-US" sz="1250" b="1" dirty="0">
                <a:solidFill>
                  <a:srgbClr val="34D399"/>
                </a:solidFill>
                <a:latin typeface="Calibri" pitchFamily="34" charset="0"/>
                <a:ea typeface="Calibri" pitchFamily="34" charset="-122"/>
                <a:cs typeface="Calibri" pitchFamily="34" charset="-120"/>
              </a:rPr>
              <a:t>hallucination = 0</a:t>
            </a:r>
            <a:endParaRPr lang="en-US" sz="1250" dirty="0"/>
          </a:p>
        </p:txBody>
      </p:sp>
      <p:sp>
        <p:nvSpPr>
          <p:cNvPr id="11" name="Shape 9"/>
          <p:cNvSpPr/>
          <p:nvPr/>
        </p:nvSpPr>
        <p:spPr>
          <a:xfrm>
            <a:off x="6035040" y="4709160"/>
            <a:ext cx="2743200" cy="384048"/>
          </a:xfrm>
          <a:prstGeom prst="roundRect">
            <a:avLst>
              <a:gd name="adj" fmla="val 50000"/>
            </a:avLst>
          </a:prstGeom>
          <a:solidFill>
            <a:srgbClr val="172033"/>
          </a:solidFill>
          <a:ln w="12700">
            <a:solidFill>
              <a:srgbClr val="A78BFA"/>
            </a:solidFill>
            <a:prstDash val="solid"/>
          </a:ln>
        </p:spPr>
      </p:sp>
      <p:sp>
        <p:nvSpPr>
          <p:cNvPr id="12" name="Text 10"/>
          <p:cNvSpPr/>
          <p:nvPr/>
        </p:nvSpPr>
        <p:spPr>
          <a:xfrm>
            <a:off x="6035040" y="4709160"/>
            <a:ext cx="2743200" cy="384048"/>
          </a:xfrm>
          <a:prstGeom prst="rect">
            <a:avLst/>
          </a:prstGeom>
          <a:noFill/>
          <a:ln/>
        </p:spPr>
        <p:txBody>
          <a:bodyPr wrap="square" lIns="0" tIns="0" rIns="0" bIns="0" rtlCol="0" anchor="ctr"/>
          <a:lstStyle/>
          <a:p>
            <a:pPr algn="ctr" indent="0" marL="0">
              <a:buNone/>
            </a:pPr>
            <a:r>
              <a:rPr lang="en-US" sz="1250" b="1" dirty="0">
                <a:solidFill>
                  <a:srgbClr val="A78BFA"/>
                </a:solidFill>
                <a:latin typeface="Calibri" pitchFamily="34" charset="0"/>
                <a:ea typeface="Calibri" pitchFamily="34" charset="-122"/>
                <a:cs typeface="Calibri" pitchFamily="34" charset="-120"/>
              </a:rPr>
              <a:t>architecture-first</a:t>
            </a:r>
            <a:endParaRPr lang="en-US" sz="1250" dirty="0"/>
          </a:p>
        </p:txBody>
      </p:sp>
      <p:sp>
        <p:nvSpPr>
          <p:cNvPr id="13" name="Text 11"/>
          <p:cNvSpPr/>
          <p:nvPr/>
        </p:nvSpPr>
        <p:spPr>
          <a:xfrm>
            <a:off x="822960" y="5577840"/>
            <a:ext cx="10058400" cy="36576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A custom MCP server for Claude  ·  6 Python packages  ·  full pytest suite green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F87171"/>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An LLM can hallucinate persuasively — and in DFIR that is fatal</a:t>
            </a:r>
            <a:endParaRPr lang="en-US" sz="3100" dirty="0"/>
          </a:p>
        </p:txBody>
      </p:sp>
      <p:sp>
        <p:nvSpPr>
          <p:cNvPr id="4" name="Shape 2"/>
          <p:cNvSpPr/>
          <p:nvPr/>
        </p:nvSpPr>
        <p:spPr>
          <a:xfrm>
            <a:off x="548640" y="1965960"/>
            <a:ext cx="5532120" cy="3657600"/>
          </a:xfrm>
          <a:prstGeom prst="roundRect">
            <a:avLst>
              <a:gd name="adj" fmla="val 2250"/>
            </a:avLst>
          </a:prstGeom>
          <a:solidFill>
            <a:srgbClr val="1E293B"/>
          </a:solidFill>
          <a:ln w="12700">
            <a:solidFill>
              <a:srgbClr val="F87171"/>
            </a:solidFill>
            <a:prstDash val="solid"/>
          </a:ln>
          <a:effectLst>
            <a:outerShdw sx="100000" sy="100000" kx="0" ky="0" algn="bl" rotWithShape="0" blurRad="101600" dist="38100" dir="5400000">
              <a:srgbClr val="000000">
                <a:alpha val="28000"/>
              </a:srgbClr>
            </a:outerShdw>
          </a:effectLst>
        </p:spPr>
      </p:sp>
      <p:sp>
        <p:nvSpPr>
          <p:cNvPr id="5" name="Text 3"/>
          <p:cNvSpPr/>
          <p:nvPr/>
        </p:nvSpPr>
        <p:spPr>
          <a:xfrm>
            <a:off x="822960" y="2286000"/>
            <a:ext cx="4937760" cy="1097280"/>
          </a:xfrm>
          <a:prstGeom prst="rect">
            <a:avLst/>
          </a:prstGeom>
          <a:noFill/>
          <a:ln/>
        </p:spPr>
        <p:txBody>
          <a:bodyPr wrap="square" lIns="0" tIns="0" rIns="0" bIns="0" rtlCol="0" anchor="ctr"/>
          <a:lstStyle/>
          <a:p>
            <a:pPr indent="0" marL="0">
              <a:buNone/>
            </a:pPr>
            <a:r>
              <a:rPr lang="en-US" sz="6000" b="1" dirty="0">
                <a:solidFill>
                  <a:srgbClr val="F87171"/>
                </a:solidFill>
                <a:latin typeface="Cambria" pitchFamily="34" charset="0"/>
                <a:ea typeface="Cambria" pitchFamily="34" charset="-122"/>
                <a:cs typeface="Cambria" pitchFamily="34" charset="-120"/>
              </a:rPr>
              <a:t>95%</a:t>
            </a:r>
            <a:endParaRPr lang="en-US" sz="6000" dirty="0"/>
          </a:p>
        </p:txBody>
      </p:sp>
      <p:sp>
        <p:nvSpPr>
          <p:cNvPr id="6" name="Text 4"/>
          <p:cNvSpPr/>
          <p:nvPr/>
        </p:nvSpPr>
        <p:spPr>
          <a:xfrm>
            <a:off x="822960" y="3429000"/>
            <a:ext cx="4937760" cy="640080"/>
          </a:xfrm>
          <a:prstGeom prst="rect">
            <a:avLst/>
          </a:prstGeom>
          <a:noFill/>
          <a:ln/>
        </p:spPr>
        <p:txBody>
          <a:bodyPr wrap="square" lIns="0" tIns="0" rIns="0" bIns="0" rtlCol="0" anchor="ctr"/>
          <a:lstStyle/>
          <a:p>
            <a:pPr indent="0" marL="0">
              <a:buNone/>
            </a:pPr>
            <a:r>
              <a:rPr lang="en-US" sz="1500" dirty="0">
                <a:solidFill>
                  <a:srgbClr val="E2E8F0"/>
                </a:solidFill>
                <a:latin typeface="Calibri" pitchFamily="34" charset="0"/>
                <a:ea typeface="Calibri" pitchFamily="34" charset="-122"/>
                <a:cs typeface="Calibri" pitchFamily="34" charset="-120"/>
              </a:rPr>
              <a:t>of a generated report can read perfectly plausible —</a:t>
            </a:r>
            <a:endParaRPr lang="en-US" sz="1500" dirty="0"/>
          </a:p>
        </p:txBody>
      </p:sp>
      <p:sp>
        <p:nvSpPr>
          <p:cNvPr id="7" name="Text 5"/>
          <p:cNvSpPr/>
          <p:nvPr/>
        </p:nvSpPr>
        <p:spPr>
          <a:xfrm>
            <a:off x="822960" y="4114800"/>
            <a:ext cx="4937760" cy="1280160"/>
          </a:xfrm>
          <a:prstGeom prst="rect">
            <a:avLst/>
          </a:prstGeom>
          <a:noFill/>
          <a:ln/>
        </p:spPr>
        <p:txBody>
          <a:bodyPr wrap="square" lIns="0" tIns="0" rIns="0" bIns="0" rtlCol="0" anchor="ctr"/>
          <a:lstStyle/>
          <a:p>
            <a:pPr indent="0" marL="0">
              <a:lnSpc>
                <a:spcPct val="115000"/>
              </a:lnSpc>
              <a:buNone/>
            </a:pPr>
            <a:r>
              <a:rPr lang="en-US" sz="1500" dirty="0">
                <a:solidFill>
                  <a:srgbClr val="E2E8F0"/>
                </a:solidFill>
                <a:latin typeface="Calibri" pitchFamily="34" charset="0"/>
                <a:ea typeface="Calibri" pitchFamily="34" charset="-122"/>
                <a:cs typeface="Calibri" pitchFamily="34" charset="-120"/>
              </a:rPr>
              <a:t>and the remaining </a:t>
            </a:r>
            <a:pPr indent="0" marL="0">
              <a:lnSpc>
                <a:spcPct val="115000"/>
              </a:lnSpc>
              <a:buNone/>
            </a:pPr>
            <a:r>
              <a:rPr lang="en-US" sz="1500" b="1" dirty="0">
                <a:solidFill>
                  <a:srgbClr val="F87171"/>
                </a:solidFill>
                <a:latin typeface="Calibri" pitchFamily="34" charset="0"/>
                <a:ea typeface="Calibri" pitchFamily="34" charset="-122"/>
                <a:cs typeface="Calibri" pitchFamily="34" charset="-120"/>
              </a:rPr>
              <a:t>5%</a:t>
            </a:r>
            <a:pPr indent="0" marL="0">
              <a:lnSpc>
                <a:spcPct val="115000"/>
              </a:lnSpc>
              <a:buNone/>
            </a:pPr>
            <a:r>
              <a:rPr lang="en-US" sz="1500" dirty="0">
                <a:solidFill>
                  <a:srgbClr val="E2E8F0"/>
                </a:solidFill>
                <a:latin typeface="Calibri" pitchFamily="34" charset="0"/>
                <a:ea typeface="Calibri" pitchFamily="34" charset="-122"/>
                <a:cs typeface="Calibri" pitchFamily="34" charset="-120"/>
              </a:rPr>
              <a:t> is an invented IOC, a fabricated timestamp, a host that was never breached.</a:t>
            </a:r>
            <a:endParaRPr lang="en-US" sz="1500" dirty="0"/>
          </a:p>
        </p:txBody>
      </p:sp>
      <p:sp>
        <p:nvSpPr>
          <p:cNvPr id="8" name="Shape 6"/>
          <p:cNvSpPr/>
          <p:nvPr/>
        </p:nvSpPr>
        <p:spPr>
          <a:xfrm>
            <a:off x="6355080" y="1965960"/>
            <a:ext cx="5257800" cy="3657600"/>
          </a:xfrm>
          <a:prstGeom prst="roundRect">
            <a:avLst>
              <a:gd name="adj" fmla="val 2250"/>
            </a:avLst>
          </a:prstGeom>
          <a:solidFill>
            <a:srgbClr val="1E293B"/>
          </a:solidFill>
          <a:ln w="12700">
            <a:solidFill>
              <a:srgbClr val="334155"/>
            </a:solidFill>
            <a:prstDash val="solid"/>
          </a:ln>
          <a:effectLst>
            <a:outerShdw sx="100000" sy="100000" kx="0" ky="0" algn="bl" rotWithShape="0" blurRad="101600" dist="38100" dir="5400000">
              <a:srgbClr val="000000">
                <a:alpha val="28000"/>
              </a:srgbClr>
            </a:outerShdw>
          </a:effectLst>
        </p:spPr>
      </p:sp>
      <p:sp>
        <p:nvSpPr>
          <p:cNvPr id="9" name="Text 7"/>
          <p:cNvSpPr/>
          <p:nvPr/>
        </p:nvSpPr>
        <p:spPr>
          <a:xfrm>
            <a:off x="6629400" y="2194560"/>
            <a:ext cx="4754880" cy="457200"/>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Why demos don't transfer to real IR</a:t>
            </a:r>
            <a:endParaRPr lang="en-US" sz="1500" dirty="0"/>
          </a:p>
        </p:txBody>
      </p:sp>
      <p:sp>
        <p:nvSpPr>
          <p:cNvPr id="10" name="Text 8"/>
          <p:cNvSpPr/>
          <p:nvPr/>
        </p:nvSpPr>
        <p:spPr>
          <a:xfrm>
            <a:off x="6629400" y="2788920"/>
            <a:ext cx="4754880" cy="41148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A confident wrong finding is worse than no finding</a:t>
            </a:r>
            <a:endParaRPr lang="en-US" sz="1400" dirty="0"/>
          </a:p>
        </p:txBody>
      </p:sp>
      <p:sp>
        <p:nvSpPr>
          <p:cNvPr id="11" name="Text 9"/>
          <p:cNvSpPr/>
          <p:nvPr/>
        </p:nvSpPr>
        <p:spPr>
          <a:xfrm>
            <a:off x="6629400" y="3154680"/>
            <a:ext cx="4754880" cy="365760"/>
          </a:xfrm>
          <a:prstGeom prst="rect">
            <a:avLst/>
          </a:prstGeom>
          <a:noFill/>
          <a:ln/>
        </p:spPr>
        <p:txBody>
          <a:bodyPr wrap="square" lIns="0" tIns="0" rIns="0" bIns="0" rtlCol="0" anchor="ctr"/>
          <a:lstStyle/>
          <a:p>
            <a:pPr indent="0" marL="0">
              <a:buNone/>
            </a:pPr>
            <a:r>
              <a:rPr lang="en-US" sz="1250" i="1" dirty="0">
                <a:solidFill>
                  <a:srgbClr val="94A3B8"/>
                </a:solidFill>
                <a:latin typeface="Calibri" pitchFamily="34" charset="0"/>
                <a:ea typeface="Calibri" pitchFamily="34" charset="-122"/>
                <a:cs typeface="Calibri" pitchFamily="34" charset="-120"/>
              </a:rPr>
              <a:t>an analyst acts on it</a:t>
            </a:r>
            <a:endParaRPr lang="en-US" sz="1250" dirty="0"/>
          </a:p>
        </p:txBody>
      </p:sp>
      <p:sp>
        <p:nvSpPr>
          <p:cNvPr id="12" name="Text 10"/>
          <p:cNvSpPr/>
          <p:nvPr/>
        </p:nvSpPr>
        <p:spPr>
          <a:xfrm>
            <a:off x="6629400" y="3703320"/>
            <a:ext cx="4754880" cy="41148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You cannot tell confirmed from inferred</a:t>
            </a:r>
            <a:endParaRPr lang="en-US" sz="1400" dirty="0"/>
          </a:p>
        </p:txBody>
      </p:sp>
      <p:sp>
        <p:nvSpPr>
          <p:cNvPr id="13" name="Text 11"/>
          <p:cNvSpPr/>
          <p:nvPr/>
        </p:nvSpPr>
        <p:spPr>
          <a:xfrm>
            <a:off x="6629400" y="4069080"/>
            <a:ext cx="4754880" cy="365760"/>
          </a:xfrm>
          <a:prstGeom prst="rect">
            <a:avLst/>
          </a:prstGeom>
          <a:noFill/>
          <a:ln/>
        </p:spPr>
        <p:txBody>
          <a:bodyPr wrap="square" lIns="0" tIns="0" rIns="0" bIns="0" rtlCol="0" anchor="ctr"/>
          <a:lstStyle/>
          <a:p>
            <a:pPr indent="0" marL="0">
              <a:buNone/>
            </a:pPr>
            <a:r>
              <a:rPr lang="en-US" sz="1250" i="1" dirty="0">
                <a:solidFill>
                  <a:srgbClr val="94A3B8"/>
                </a:solidFill>
                <a:latin typeface="Calibri" pitchFamily="34" charset="0"/>
                <a:ea typeface="Calibri" pitchFamily="34" charset="-122"/>
                <a:cs typeface="Calibri" pitchFamily="34" charset="-120"/>
              </a:rPr>
              <a:t>prose hides which is which</a:t>
            </a:r>
            <a:endParaRPr lang="en-US" sz="1250" dirty="0"/>
          </a:p>
        </p:txBody>
      </p:sp>
      <p:sp>
        <p:nvSpPr>
          <p:cNvPr id="14" name="Text 12"/>
          <p:cNvSpPr/>
          <p:nvPr/>
        </p:nvSpPr>
        <p:spPr>
          <a:xfrm>
            <a:off x="6629400" y="4617720"/>
            <a:ext cx="4754880" cy="41148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Nothing ties a claim back to evidence</a:t>
            </a:r>
            <a:endParaRPr lang="en-US" sz="1400" dirty="0"/>
          </a:p>
        </p:txBody>
      </p:sp>
      <p:sp>
        <p:nvSpPr>
          <p:cNvPr id="15" name="Text 13"/>
          <p:cNvSpPr/>
          <p:nvPr/>
        </p:nvSpPr>
        <p:spPr>
          <a:xfrm>
            <a:off x="6629400" y="4983480"/>
            <a:ext cx="4754880" cy="365760"/>
          </a:xfrm>
          <a:prstGeom prst="rect">
            <a:avLst/>
          </a:prstGeom>
          <a:noFill/>
          <a:ln/>
        </p:spPr>
        <p:txBody>
          <a:bodyPr wrap="square" lIns="0" tIns="0" rIns="0" bIns="0" rtlCol="0" anchor="ctr"/>
          <a:lstStyle/>
          <a:p>
            <a:pPr indent="0" marL="0">
              <a:buNone/>
            </a:pPr>
            <a:r>
              <a:rPr lang="en-US" sz="1250" i="1" dirty="0">
                <a:solidFill>
                  <a:srgbClr val="94A3B8"/>
                </a:solidFill>
                <a:latin typeface="Calibri" pitchFamily="34" charset="0"/>
                <a:ea typeface="Calibri" pitchFamily="34" charset="-122"/>
                <a:cs typeface="Calibri" pitchFamily="34" charset="-120"/>
              </a:rPr>
              <a:t>no way to audit the chain</a:t>
            </a:r>
            <a:endParaRPr lang="en-US" sz="1250" dirty="0"/>
          </a:p>
        </p:txBody>
      </p:sp>
      <p:sp>
        <p:nvSpPr>
          <p:cNvPr id="16" name="Text 14"/>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17" name="Text 15"/>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02 / 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34D399"/>
                </a:solidFill>
                <a:latin typeface="Calibri" pitchFamily="34" charset="0"/>
                <a:ea typeface="Calibri" pitchFamily="34" charset="-122"/>
                <a:cs typeface="Calibri" pitchFamily="34" charset="-120"/>
              </a:rPr>
              <a:t>THE APPROACH</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Don't ask the model to behave — remove the ability to misbehave</a:t>
            </a:r>
            <a:endParaRPr lang="en-US" sz="3100" dirty="0"/>
          </a:p>
        </p:txBody>
      </p:sp>
      <p:sp>
        <p:nvSpPr>
          <p:cNvPr id="4" name="Text 2"/>
          <p:cNvSpPr/>
          <p:nvPr/>
        </p:nvSpPr>
        <p:spPr>
          <a:xfrm>
            <a:off x="548640" y="1874520"/>
            <a:ext cx="11064240" cy="1097280"/>
          </a:xfrm>
          <a:prstGeom prst="rect">
            <a:avLst/>
          </a:prstGeom>
          <a:noFill/>
          <a:ln/>
        </p:spPr>
        <p:txBody>
          <a:bodyPr wrap="square" lIns="0" tIns="0" rIns="0" bIns="0" rtlCol="0" anchor="ctr"/>
          <a:lstStyle/>
          <a:p>
            <a:pPr indent="0" marL="0">
              <a:lnSpc>
                <a:spcPct val="120000"/>
              </a:lnSpc>
              <a:buNone/>
            </a:pPr>
            <a:r>
              <a:rPr lang="en-US" sz="1700" dirty="0">
                <a:solidFill>
                  <a:srgbClr val="94A3B8"/>
                </a:solidFill>
                <a:latin typeface="Calibri" pitchFamily="34" charset="0"/>
                <a:ea typeface="Calibri" pitchFamily="34" charset="-122"/>
                <a:cs typeface="Calibri" pitchFamily="34" charset="-120"/>
              </a:rPr>
              <a:t>Claude is handed 73 typed, read-only forensic functions over a custom MCP server. It can read evidence, never write or execute. Every finding it reports must cite the audit_id of the tool call that produced it — or it is blocked before it reaches the report.</a:t>
            </a:r>
            <a:endParaRPr lang="en-US" sz="1700" dirty="0"/>
          </a:p>
        </p:txBody>
      </p:sp>
      <p:sp>
        <p:nvSpPr>
          <p:cNvPr id="5" name="Shape 3"/>
          <p:cNvSpPr/>
          <p:nvPr/>
        </p:nvSpPr>
        <p:spPr>
          <a:xfrm>
            <a:off x="548640" y="3200400"/>
            <a:ext cx="3493008" cy="2606040"/>
          </a:xfrm>
          <a:prstGeom prst="roundRect">
            <a:avLst>
              <a:gd name="adj" fmla="val 3158"/>
            </a:avLst>
          </a:prstGeom>
          <a:solidFill>
            <a:srgbClr val="1E293B"/>
          </a:solidFill>
          <a:ln w="12700">
            <a:solidFill>
              <a:srgbClr val="38BDF8"/>
            </a:solidFill>
            <a:prstDash val="solid"/>
          </a:ln>
          <a:effectLst>
            <a:outerShdw sx="100000" sy="100000" kx="0" ky="0" algn="bl" rotWithShape="0" blurRad="101600" dist="38100" dir="5400000">
              <a:srgbClr val="000000">
                <a:alpha val="28000"/>
              </a:srgbClr>
            </a:outerShdw>
          </a:effectLst>
        </p:spPr>
      </p:sp>
      <p:sp>
        <p:nvSpPr>
          <p:cNvPr id="6" name="Shape 4"/>
          <p:cNvSpPr/>
          <p:nvPr/>
        </p:nvSpPr>
        <p:spPr>
          <a:xfrm>
            <a:off x="822960" y="3474720"/>
            <a:ext cx="457200" cy="457200"/>
          </a:xfrm>
          <a:prstGeom prst="ellipse">
            <a:avLst/>
          </a:prstGeom>
          <a:solidFill>
            <a:srgbClr val="38BDF8">
              <a:alpha val="22000"/>
            </a:srgbClr>
          </a:solidFill>
          <a:ln w="19050">
            <a:solidFill>
              <a:srgbClr val="38BDF8"/>
            </a:solidFill>
            <a:prstDash val="solid"/>
          </a:ln>
        </p:spPr>
      </p:sp>
      <p:sp>
        <p:nvSpPr>
          <p:cNvPr id="7" name="Text 5"/>
          <p:cNvSpPr/>
          <p:nvPr/>
        </p:nvSpPr>
        <p:spPr>
          <a:xfrm>
            <a:off x="822960" y="3474720"/>
            <a:ext cx="457200" cy="457200"/>
          </a:xfrm>
          <a:prstGeom prst="rect">
            <a:avLst/>
          </a:prstGeom>
          <a:noFill/>
          <a:ln/>
        </p:spPr>
        <p:txBody>
          <a:bodyPr wrap="square" lIns="0" tIns="0" rIns="0" bIns="0" rtlCol="0" anchor="ctr"/>
          <a:lstStyle/>
          <a:p>
            <a:pPr algn="ctr" indent="0" marL="0">
              <a:buNone/>
            </a:pPr>
            <a:r>
              <a:rPr lang="en-US" sz="1800" b="1" dirty="0">
                <a:solidFill>
                  <a:srgbClr val="38BDF8"/>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822960" y="4069080"/>
            <a:ext cx="3017520" cy="548640"/>
          </a:xfrm>
          <a:prstGeom prst="rect">
            <a:avLst/>
          </a:prstGeom>
          <a:noFill/>
          <a:ln/>
        </p:spPr>
        <p:txBody>
          <a:bodyPr wrap="square" lIns="0" tIns="0" rIns="0" bIns="0" rtlCol="0" anchor="ctr"/>
          <a:lstStyle/>
          <a:p>
            <a:pPr indent="0" marL="0">
              <a:buNone/>
            </a:pPr>
            <a:r>
              <a:rPr lang="en-US" sz="1550" b="1" dirty="0">
                <a:solidFill>
                  <a:srgbClr val="E2E8F0"/>
                </a:solidFill>
                <a:latin typeface="Calibri" pitchFamily="34" charset="0"/>
                <a:ea typeface="Calibri" pitchFamily="34" charset="-122"/>
                <a:cs typeface="Calibri" pitchFamily="34" charset="-120"/>
              </a:rPr>
              <a:t>Typed read-only surface</a:t>
            </a:r>
            <a:endParaRPr lang="en-US" sz="1550" dirty="0"/>
          </a:p>
        </p:txBody>
      </p:sp>
      <p:sp>
        <p:nvSpPr>
          <p:cNvPr id="9" name="Text 7"/>
          <p:cNvSpPr/>
          <p:nvPr/>
        </p:nvSpPr>
        <p:spPr>
          <a:xfrm>
            <a:off x="822960" y="4617720"/>
            <a:ext cx="3017520" cy="1051560"/>
          </a:xfrm>
          <a:prstGeom prst="rect">
            <a:avLst/>
          </a:prstGeom>
          <a:noFill/>
          <a:ln/>
        </p:spPr>
        <p:txBody>
          <a:bodyPr wrap="square" lIns="0" tIns="0" rIns="0" bIns="0" rtlCol="0" anchor="ctr"/>
          <a:lstStyle/>
          <a:p>
            <a:pPr indent="0" marL="0">
              <a:lnSpc>
                <a:spcPct val="112000"/>
              </a:lnSpc>
              <a:buNone/>
            </a:pPr>
            <a:r>
              <a:rPr lang="en-US" sz="1250" dirty="0">
                <a:solidFill>
                  <a:srgbClr val="94A3B8"/>
                </a:solidFill>
                <a:latin typeface="Calibri" pitchFamily="34" charset="0"/>
                <a:ea typeface="Calibri" pitchFamily="34" charset="-122"/>
                <a:cs typeface="Calibri" pitchFamily="34" charset="-120"/>
              </a:rPr>
              <a:t>73 functions on the MCP wire. No shell, no eval, no write path. The boundary IS the function list.</a:t>
            </a:r>
            <a:endParaRPr lang="en-US" sz="1250" dirty="0"/>
          </a:p>
        </p:txBody>
      </p:sp>
      <p:sp>
        <p:nvSpPr>
          <p:cNvPr id="10" name="Shape 8"/>
          <p:cNvSpPr/>
          <p:nvPr/>
        </p:nvSpPr>
        <p:spPr>
          <a:xfrm>
            <a:off x="4270248" y="3200400"/>
            <a:ext cx="3493008" cy="2606040"/>
          </a:xfrm>
          <a:prstGeom prst="roundRect">
            <a:avLst>
              <a:gd name="adj" fmla="val 3158"/>
            </a:avLst>
          </a:prstGeom>
          <a:solidFill>
            <a:srgbClr val="1E293B"/>
          </a:solidFill>
          <a:ln w="12700">
            <a:solidFill>
              <a:srgbClr val="34D399"/>
            </a:solidFill>
            <a:prstDash val="solid"/>
          </a:ln>
          <a:effectLst>
            <a:outerShdw sx="100000" sy="100000" kx="0" ky="0" algn="bl" rotWithShape="0" blurRad="101600" dist="38100" dir="5400000">
              <a:srgbClr val="000000">
                <a:alpha val="28000"/>
              </a:srgbClr>
            </a:outerShdw>
          </a:effectLst>
        </p:spPr>
      </p:sp>
      <p:sp>
        <p:nvSpPr>
          <p:cNvPr id="11" name="Shape 9"/>
          <p:cNvSpPr/>
          <p:nvPr/>
        </p:nvSpPr>
        <p:spPr>
          <a:xfrm>
            <a:off x="4544568" y="3474720"/>
            <a:ext cx="457200" cy="457200"/>
          </a:xfrm>
          <a:prstGeom prst="ellipse">
            <a:avLst/>
          </a:prstGeom>
          <a:solidFill>
            <a:srgbClr val="34D399">
              <a:alpha val="22000"/>
            </a:srgbClr>
          </a:solidFill>
          <a:ln w="19050">
            <a:solidFill>
              <a:srgbClr val="34D399"/>
            </a:solidFill>
            <a:prstDash val="solid"/>
          </a:ln>
        </p:spPr>
      </p:sp>
      <p:sp>
        <p:nvSpPr>
          <p:cNvPr id="12" name="Text 10"/>
          <p:cNvSpPr/>
          <p:nvPr/>
        </p:nvSpPr>
        <p:spPr>
          <a:xfrm>
            <a:off x="4544568" y="3474720"/>
            <a:ext cx="457200" cy="457200"/>
          </a:xfrm>
          <a:prstGeom prst="rect">
            <a:avLst/>
          </a:prstGeom>
          <a:noFill/>
          <a:ln/>
        </p:spPr>
        <p:txBody>
          <a:bodyPr wrap="square" lIns="0" tIns="0" rIns="0" bIns="0" rtlCol="0" anchor="ctr"/>
          <a:lstStyle/>
          <a:p>
            <a:pPr algn="ctr" indent="0" marL="0">
              <a:buNone/>
            </a:pPr>
            <a:r>
              <a:rPr lang="en-US" sz="1800" b="1" dirty="0">
                <a:solidFill>
                  <a:srgbClr val="34D399"/>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544568" y="4069080"/>
            <a:ext cx="3017520" cy="548640"/>
          </a:xfrm>
          <a:prstGeom prst="rect">
            <a:avLst/>
          </a:prstGeom>
          <a:noFill/>
          <a:ln/>
        </p:spPr>
        <p:txBody>
          <a:bodyPr wrap="square" lIns="0" tIns="0" rIns="0" bIns="0" rtlCol="0" anchor="ctr"/>
          <a:lstStyle/>
          <a:p>
            <a:pPr indent="0" marL="0">
              <a:buNone/>
            </a:pPr>
            <a:r>
              <a:rPr lang="en-US" sz="1550" b="1" dirty="0">
                <a:solidFill>
                  <a:srgbClr val="E2E8F0"/>
                </a:solidFill>
                <a:latin typeface="Calibri" pitchFamily="34" charset="0"/>
                <a:ea typeface="Calibri" pitchFamily="34" charset="-122"/>
                <a:cs typeface="Calibri" pitchFamily="34" charset="-120"/>
              </a:rPr>
              <a:t>Evidence-bound claims</a:t>
            </a:r>
            <a:endParaRPr lang="en-US" sz="1550" dirty="0"/>
          </a:p>
        </p:txBody>
      </p:sp>
      <p:sp>
        <p:nvSpPr>
          <p:cNvPr id="14" name="Text 12"/>
          <p:cNvSpPr/>
          <p:nvPr/>
        </p:nvSpPr>
        <p:spPr>
          <a:xfrm>
            <a:off x="4544568" y="4617720"/>
            <a:ext cx="3017520" cy="1051560"/>
          </a:xfrm>
          <a:prstGeom prst="rect">
            <a:avLst/>
          </a:prstGeom>
          <a:noFill/>
          <a:ln/>
        </p:spPr>
        <p:txBody>
          <a:bodyPr wrap="square" lIns="0" tIns="0" rIns="0" bIns="0" rtlCol="0" anchor="ctr"/>
          <a:lstStyle/>
          <a:p>
            <a:pPr indent="0" marL="0">
              <a:lnSpc>
                <a:spcPct val="112000"/>
              </a:lnSpc>
              <a:buNone/>
            </a:pPr>
            <a:r>
              <a:rPr lang="en-US" sz="1250" dirty="0">
                <a:solidFill>
                  <a:srgbClr val="94A3B8"/>
                </a:solidFill>
                <a:latin typeface="Calibri" pitchFamily="34" charset="0"/>
                <a:ea typeface="Calibri" pitchFamily="34" charset="-122"/>
                <a:cs typeface="Calibri" pitchFamily="34" charset="-120"/>
              </a:rPr>
              <a:t>Every finding carries an audit_id into a hash-linked chain. No citation → serializer blocks it.</a:t>
            </a:r>
            <a:endParaRPr lang="en-US" sz="1250" dirty="0"/>
          </a:p>
        </p:txBody>
      </p:sp>
      <p:sp>
        <p:nvSpPr>
          <p:cNvPr id="15" name="Shape 13"/>
          <p:cNvSpPr/>
          <p:nvPr/>
        </p:nvSpPr>
        <p:spPr>
          <a:xfrm>
            <a:off x="7991856" y="3200400"/>
            <a:ext cx="3493008" cy="2606040"/>
          </a:xfrm>
          <a:prstGeom prst="roundRect">
            <a:avLst>
              <a:gd name="adj" fmla="val 3158"/>
            </a:avLst>
          </a:prstGeom>
          <a:solidFill>
            <a:srgbClr val="1E293B"/>
          </a:solidFill>
          <a:ln w="12700">
            <a:solidFill>
              <a:srgbClr val="A78BFA"/>
            </a:solidFill>
            <a:prstDash val="solid"/>
          </a:ln>
          <a:effectLst>
            <a:outerShdw sx="100000" sy="100000" kx="0" ky="0" algn="bl" rotWithShape="0" blurRad="101600" dist="38100" dir="5400000">
              <a:srgbClr val="000000">
                <a:alpha val="28000"/>
              </a:srgbClr>
            </a:outerShdw>
          </a:effectLst>
        </p:spPr>
      </p:sp>
      <p:sp>
        <p:nvSpPr>
          <p:cNvPr id="16" name="Shape 14"/>
          <p:cNvSpPr/>
          <p:nvPr/>
        </p:nvSpPr>
        <p:spPr>
          <a:xfrm>
            <a:off x="8266176" y="3474720"/>
            <a:ext cx="457200" cy="457200"/>
          </a:xfrm>
          <a:prstGeom prst="ellipse">
            <a:avLst/>
          </a:prstGeom>
          <a:solidFill>
            <a:srgbClr val="A78BFA">
              <a:alpha val="22000"/>
            </a:srgbClr>
          </a:solidFill>
          <a:ln w="19050">
            <a:solidFill>
              <a:srgbClr val="A78BFA"/>
            </a:solidFill>
            <a:prstDash val="solid"/>
          </a:ln>
        </p:spPr>
      </p:sp>
      <p:sp>
        <p:nvSpPr>
          <p:cNvPr id="17" name="Text 15"/>
          <p:cNvSpPr/>
          <p:nvPr/>
        </p:nvSpPr>
        <p:spPr>
          <a:xfrm>
            <a:off x="8266176" y="3474720"/>
            <a:ext cx="457200" cy="457200"/>
          </a:xfrm>
          <a:prstGeom prst="rect">
            <a:avLst/>
          </a:prstGeom>
          <a:noFill/>
          <a:ln/>
        </p:spPr>
        <p:txBody>
          <a:bodyPr wrap="square" lIns="0" tIns="0" rIns="0" bIns="0" rtlCol="0" anchor="ctr"/>
          <a:lstStyle/>
          <a:p>
            <a:pPr algn="ctr" indent="0" marL="0">
              <a:buNone/>
            </a:pPr>
            <a:r>
              <a:rPr lang="en-US" sz="1800" b="1" dirty="0">
                <a:solidFill>
                  <a:srgbClr val="A78BFA"/>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266176" y="4069080"/>
            <a:ext cx="3017520" cy="548640"/>
          </a:xfrm>
          <a:prstGeom prst="rect">
            <a:avLst/>
          </a:prstGeom>
          <a:noFill/>
          <a:ln/>
        </p:spPr>
        <p:txBody>
          <a:bodyPr wrap="square" lIns="0" tIns="0" rIns="0" bIns="0" rtlCol="0" anchor="ctr"/>
          <a:lstStyle/>
          <a:p>
            <a:pPr indent="0" marL="0">
              <a:buNone/>
            </a:pPr>
            <a:r>
              <a:rPr lang="en-US" sz="1550" b="1" dirty="0">
                <a:solidFill>
                  <a:srgbClr val="E2E8F0"/>
                </a:solidFill>
                <a:latin typeface="Calibri" pitchFamily="34" charset="0"/>
                <a:ea typeface="Calibri" pitchFamily="34" charset="-122"/>
                <a:cs typeface="Calibri" pitchFamily="34" charset="-120"/>
              </a:rPr>
              <a:t>Self-correcting loop</a:t>
            </a:r>
            <a:endParaRPr lang="en-US" sz="1550" dirty="0"/>
          </a:p>
        </p:txBody>
      </p:sp>
      <p:sp>
        <p:nvSpPr>
          <p:cNvPr id="19" name="Text 17"/>
          <p:cNvSpPr/>
          <p:nvPr/>
        </p:nvSpPr>
        <p:spPr>
          <a:xfrm>
            <a:off x="8266176" y="4617720"/>
            <a:ext cx="3017520" cy="1051560"/>
          </a:xfrm>
          <a:prstGeom prst="rect">
            <a:avLst/>
          </a:prstGeom>
          <a:noFill/>
          <a:ln/>
        </p:spPr>
        <p:txBody>
          <a:bodyPr wrap="square" lIns="0" tIns="0" rIns="0" bIns="0" rtlCol="0" anchor="ctr"/>
          <a:lstStyle/>
          <a:p>
            <a:pPr indent="0" marL="0">
              <a:lnSpc>
                <a:spcPct val="112000"/>
              </a:lnSpc>
              <a:buNone/>
            </a:pPr>
            <a:r>
              <a:rPr lang="en-US" sz="1250" dirty="0">
                <a:solidFill>
                  <a:srgbClr val="94A3B8"/>
                </a:solidFill>
                <a:latin typeface="Calibri" pitchFamily="34" charset="0"/>
                <a:ea typeface="Calibri" pitchFamily="34" charset="-122"/>
                <a:cs typeface="Calibri" pitchFamily="34" charset="-120"/>
              </a:rPr>
              <a:t>A 10-phase playbook forces a contradiction check; the agent revises its own hypothesis.</a:t>
            </a:r>
            <a:endParaRPr lang="en-US" sz="1250" dirty="0"/>
          </a:p>
        </p:txBody>
      </p:sp>
      <p:sp>
        <p:nvSpPr>
          <p:cNvPr id="20" name="Text 18"/>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21" name="Text 19"/>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03 / 13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Architecture-first, not prompt-first</a:t>
            </a:r>
            <a:endParaRPr lang="en-US" sz="3100" dirty="0"/>
          </a:p>
        </p:txBody>
      </p:sp>
      <p:sp>
        <p:nvSpPr>
          <p:cNvPr id="4" name="Shape 2"/>
          <p:cNvSpPr/>
          <p:nvPr/>
        </p:nvSpPr>
        <p:spPr>
          <a:xfrm>
            <a:off x="548640" y="1783080"/>
            <a:ext cx="7772400" cy="4343400"/>
          </a:xfrm>
          <a:prstGeom prst="roundRect">
            <a:avLst>
              <a:gd name="adj" fmla="val 1895"/>
            </a:avLst>
          </a:prstGeom>
          <a:solidFill>
            <a:srgbClr val="1E293B"/>
          </a:solidFill>
          <a:ln w="12700">
            <a:solidFill>
              <a:srgbClr val="334155"/>
            </a:solidFill>
            <a:prstDash val="solid"/>
          </a:ln>
          <a:effectLst>
            <a:outerShdw sx="100000" sy="100000" kx="0" ky="0" algn="bl" rotWithShape="0" blurRad="101600" dist="38100" dir="5400000">
              <a:srgbClr val="000000">
                <a:alpha val="28000"/>
              </a:srgbClr>
            </a:outerShdw>
          </a:effectLst>
        </p:spPr>
      </p:sp>
      <p:pic>
        <p:nvPicPr>
          <p:cNvPr id="5" name="Image 0" descr="/home/claude/work/agentic-dart/docs/dart-architecture.png">    </p:cNvPr>
          <p:cNvPicPr>
            <a:picLocks noChangeAspect="1"/>
          </p:cNvPicPr>
          <p:nvPr/>
        </p:nvPicPr>
        <p:blipFill>
          <a:blip r:embed="rId1"/>
          <a:srcRect l="0" r="0" t="0" b="0"/>
          <a:stretch/>
        </p:blipFill>
        <p:spPr>
          <a:xfrm>
            <a:off x="731520" y="1965960"/>
            <a:ext cx="7406640" cy="3977640"/>
          </a:xfrm>
          <a:prstGeom prst="rect">
            <a:avLst/>
          </a:prstGeom>
        </p:spPr>
      </p:pic>
      <p:sp>
        <p:nvSpPr>
          <p:cNvPr id="6" name="Shape 3"/>
          <p:cNvSpPr/>
          <p:nvPr/>
        </p:nvSpPr>
        <p:spPr>
          <a:xfrm>
            <a:off x="8503920" y="1783080"/>
            <a:ext cx="3108960" cy="4343400"/>
          </a:xfrm>
          <a:prstGeom prst="roundRect">
            <a:avLst>
              <a:gd name="adj" fmla="val 2647"/>
            </a:avLst>
          </a:prstGeom>
          <a:solidFill>
            <a:srgbClr val="172033"/>
          </a:solidFill>
          <a:ln w="12700">
            <a:solidFill>
              <a:srgbClr val="334155"/>
            </a:solidFill>
            <a:prstDash val="solid"/>
          </a:ln>
          <a:effectLst>
            <a:outerShdw sx="100000" sy="100000" kx="0" ky="0" algn="bl" rotWithShape="0" blurRad="101600" dist="38100" dir="5400000">
              <a:srgbClr val="000000">
                <a:alpha val="28000"/>
              </a:srgbClr>
            </a:outerShdw>
          </a:effectLst>
        </p:spPr>
      </p:sp>
      <p:sp>
        <p:nvSpPr>
          <p:cNvPr id="7" name="Text 4"/>
          <p:cNvSpPr/>
          <p:nvPr/>
        </p:nvSpPr>
        <p:spPr>
          <a:xfrm>
            <a:off x="8732520" y="2011680"/>
            <a:ext cx="2697480" cy="457200"/>
          </a:xfrm>
          <a:prstGeom prst="rect">
            <a:avLst/>
          </a:prstGeom>
          <a:noFill/>
          <a:ln/>
        </p:spPr>
        <p:txBody>
          <a:bodyPr wrap="square" lIns="0" tIns="0" rIns="0" bIns="0" rtlCol="0" anchor="ctr"/>
          <a:lstStyle/>
          <a:p>
            <a:pPr indent="0" marL="0">
              <a:buNone/>
            </a:pPr>
            <a:r>
              <a:rPr lang="en-US" sz="1400" b="1" dirty="0">
                <a:solidFill>
                  <a:srgbClr val="FBBF24"/>
                </a:solidFill>
                <a:latin typeface="Calibri" pitchFamily="34" charset="0"/>
                <a:ea typeface="Calibri" pitchFamily="34" charset="-122"/>
                <a:cs typeface="Calibri" pitchFamily="34" charset="-120"/>
              </a:rPr>
              <a:t>Where the boundary lives</a:t>
            </a:r>
            <a:endParaRPr lang="en-US" sz="1400" dirty="0"/>
          </a:p>
        </p:txBody>
      </p:sp>
      <p:sp>
        <p:nvSpPr>
          <p:cNvPr id="8" name="Text 5"/>
          <p:cNvSpPr/>
          <p:nvPr/>
        </p:nvSpPr>
        <p:spPr>
          <a:xfrm>
            <a:off x="8732520" y="2606040"/>
            <a:ext cx="2697480" cy="365760"/>
          </a:xfrm>
          <a:prstGeom prst="rect">
            <a:avLst/>
          </a:prstGeom>
          <a:noFill/>
          <a:ln/>
        </p:spPr>
        <p:txBody>
          <a:bodyPr wrap="square" lIns="0" tIns="0" rIns="0" bIns="0" rtlCol="0" anchor="ctr"/>
          <a:lstStyle/>
          <a:p>
            <a:pPr indent="0" marL="0">
              <a:buNone/>
            </a:pPr>
            <a:r>
              <a:rPr lang="en-US" sz="1400" b="1" dirty="0">
                <a:solidFill>
                  <a:srgbClr val="94A3B8"/>
                </a:solidFill>
                <a:latin typeface="Calibri" pitchFamily="34" charset="0"/>
                <a:ea typeface="Calibri" pitchFamily="34" charset="-122"/>
                <a:cs typeface="Calibri" pitchFamily="34" charset="-120"/>
              </a:rPr>
              <a:t>Claude API</a:t>
            </a:r>
            <a:endParaRPr lang="en-US" sz="1400" dirty="0"/>
          </a:p>
        </p:txBody>
      </p:sp>
      <p:sp>
        <p:nvSpPr>
          <p:cNvPr id="9" name="Text 6"/>
          <p:cNvSpPr/>
          <p:nvPr/>
        </p:nvSpPr>
        <p:spPr>
          <a:xfrm>
            <a:off x="8732520" y="2935224"/>
            <a:ext cx="2697480" cy="640080"/>
          </a:xfrm>
          <a:prstGeom prst="rect">
            <a:avLst/>
          </a:prstGeom>
          <a:noFill/>
          <a:ln/>
        </p:spPr>
        <p:txBody>
          <a:bodyPr wrap="square" lIns="0" tIns="0" rIns="0" bIns="0" rtlCol="0" anchor="ctr"/>
          <a:lstStyle/>
          <a:p>
            <a:pPr indent="0" marL="0">
              <a:lnSpc>
                <a:spcPct val="110000"/>
              </a:lnSpc>
              <a:buNone/>
            </a:pPr>
            <a:r>
              <a:rPr lang="en-US" sz="1150" dirty="0">
                <a:solidFill>
                  <a:srgbClr val="94A3B8"/>
                </a:solidFill>
                <a:latin typeface="Calibri" pitchFamily="34" charset="0"/>
                <a:ea typeface="Calibri" pitchFamily="34" charset="-122"/>
                <a:cs typeface="Calibri" pitchFamily="34" charset="-120"/>
              </a:rPr>
              <a:t>session ergonomics only — no security boundary here</a:t>
            </a:r>
            <a:endParaRPr lang="en-US" sz="1150" dirty="0"/>
          </a:p>
        </p:txBody>
      </p:sp>
      <p:sp>
        <p:nvSpPr>
          <p:cNvPr id="10" name="Text 7"/>
          <p:cNvSpPr/>
          <p:nvPr/>
        </p:nvSpPr>
        <p:spPr>
          <a:xfrm>
            <a:off x="8732520" y="3685032"/>
            <a:ext cx="2697480" cy="365760"/>
          </a:xfrm>
          <a:prstGeom prst="rect">
            <a:avLst/>
          </a:prstGeom>
          <a:noFill/>
          <a:ln/>
        </p:spPr>
        <p:txBody>
          <a:bodyPr wrap="square" lIns="0" tIns="0" rIns="0" bIns="0" rtlCol="0" anchor="ctr"/>
          <a:lstStyle/>
          <a:p>
            <a:pPr indent="0" marL="0">
              <a:buNone/>
            </a:pPr>
            <a:r>
              <a:rPr lang="en-US" sz="1400" b="1" dirty="0">
                <a:solidFill>
                  <a:srgbClr val="38BDF8"/>
                </a:solidFill>
                <a:latin typeface="Calibri" pitchFamily="34" charset="0"/>
                <a:ea typeface="Calibri" pitchFamily="34" charset="-122"/>
                <a:cs typeface="Calibri" pitchFamily="34" charset="-120"/>
              </a:rPr>
              <a:t>dart_mcp</a:t>
            </a:r>
            <a:endParaRPr lang="en-US" sz="1400" dirty="0"/>
          </a:p>
        </p:txBody>
      </p:sp>
      <p:sp>
        <p:nvSpPr>
          <p:cNvPr id="11" name="Text 8"/>
          <p:cNvSpPr/>
          <p:nvPr/>
        </p:nvSpPr>
        <p:spPr>
          <a:xfrm>
            <a:off x="8732520" y="4014216"/>
            <a:ext cx="2697480" cy="640080"/>
          </a:xfrm>
          <a:prstGeom prst="rect">
            <a:avLst/>
          </a:prstGeom>
          <a:noFill/>
          <a:ln/>
        </p:spPr>
        <p:txBody>
          <a:bodyPr wrap="square" lIns="0" tIns="0" rIns="0" bIns="0" rtlCol="0" anchor="ctr"/>
          <a:lstStyle/>
          <a:p>
            <a:pPr indent="0" marL="0">
              <a:lnSpc>
                <a:spcPct val="110000"/>
              </a:lnSpc>
              <a:buNone/>
            </a:pPr>
            <a:r>
              <a:rPr lang="en-US" sz="1150" dirty="0">
                <a:solidFill>
                  <a:srgbClr val="94A3B8"/>
                </a:solidFill>
                <a:latin typeface="Calibri" pitchFamily="34" charset="0"/>
                <a:ea typeface="Calibri" pitchFamily="34" charset="-122"/>
                <a:cs typeface="Calibri" pitchFamily="34" charset="-120"/>
              </a:rPr>
              <a:t>the read-only boundary, enforced by the surface itself</a:t>
            </a:r>
            <a:endParaRPr lang="en-US" sz="1150" dirty="0"/>
          </a:p>
        </p:txBody>
      </p:sp>
      <p:sp>
        <p:nvSpPr>
          <p:cNvPr id="12" name="Text 9"/>
          <p:cNvSpPr/>
          <p:nvPr/>
        </p:nvSpPr>
        <p:spPr>
          <a:xfrm>
            <a:off x="8732520" y="4764024"/>
            <a:ext cx="2697480" cy="36576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OS mount</a:t>
            </a:r>
            <a:endParaRPr lang="en-US" sz="1400" dirty="0"/>
          </a:p>
        </p:txBody>
      </p:sp>
      <p:sp>
        <p:nvSpPr>
          <p:cNvPr id="13" name="Text 10"/>
          <p:cNvSpPr/>
          <p:nvPr/>
        </p:nvSpPr>
        <p:spPr>
          <a:xfrm>
            <a:off x="8732520" y="5093208"/>
            <a:ext cx="2697480" cy="640080"/>
          </a:xfrm>
          <a:prstGeom prst="rect">
            <a:avLst/>
          </a:prstGeom>
          <a:noFill/>
          <a:ln/>
        </p:spPr>
        <p:txBody>
          <a:bodyPr wrap="square" lIns="0" tIns="0" rIns="0" bIns="0" rtlCol="0" anchor="ctr"/>
          <a:lstStyle/>
          <a:p>
            <a:pPr indent="0" marL="0">
              <a:lnSpc>
                <a:spcPct val="110000"/>
              </a:lnSpc>
              <a:buNone/>
            </a:pPr>
            <a:r>
              <a:rPr lang="en-US" sz="1150" dirty="0">
                <a:solidFill>
                  <a:srgbClr val="94A3B8"/>
                </a:solidFill>
                <a:latin typeface="Calibri" pitchFamily="34" charset="0"/>
                <a:ea typeface="Calibri" pitchFamily="34" charset="-122"/>
                <a:cs typeface="Calibri" pitchFamily="34" charset="-120"/>
              </a:rPr>
              <a:t>evidence mounted read-only at the OS level</a:t>
            </a:r>
            <a:endParaRPr lang="en-US" sz="1150" dirty="0"/>
          </a:p>
        </p:txBody>
      </p:sp>
      <p:sp>
        <p:nvSpPr>
          <p:cNvPr id="14" name="Text 11"/>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15" name="Text 12"/>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04 / 13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34D399"/>
                </a:solidFill>
                <a:latin typeface="Calibri" pitchFamily="34" charset="0"/>
                <a:ea typeface="Calibri" pitchFamily="34" charset="-122"/>
                <a:cs typeface="Calibri" pitchFamily="34" charset="-120"/>
              </a:rPr>
              <a:t>THE GUARANTEE</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Read-only by construction — there is nothing to jailbreak</a:t>
            </a:r>
            <a:endParaRPr lang="en-US" sz="3100" dirty="0"/>
          </a:p>
        </p:txBody>
      </p:sp>
      <p:sp>
        <p:nvSpPr>
          <p:cNvPr id="4" name="Shape 2"/>
          <p:cNvSpPr/>
          <p:nvPr/>
        </p:nvSpPr>
        <p:spPr>
          <a:xfrm>
            <a:off x="548640" y="1874520"/>
            <a:ext cx="5486400" cy="4114800"/>
          </a:xfrm>
          <a:prstGeom prst="roundRect">
            <a:avLst>
              <a:gd name="adj" fmla="val 2000"/>
            </a:avLst>
          </a:prstGeom>
          <a:solidFill>
            <a:srgbClr val="1E293B"/>
          </a:solidFill>
          <a:ln w="12700">
            <a:solidFill>
              <a:srgbClr val="34D399"/>
            </a:solidFill>
            <a:prstDash val="solid"/>
          </a:ln>
          <a:effectLst>
            <a:outerShdw sx="100000" sy="100000" kx="0" ky="0" algn="bl" rotWithShape="0" blurRad="101600" dist="38100" dir="5400000">
              <a:srgbClr val="000000">
                <a:alpha val="28000"/>
              </a:srgbClr>
            </a:outerShdw>
          </a:effectLst>
        </p:spPr>
      </p:sp>
      <p:sp>
        <p:nvSpPr>
          <p:cNvPr id="5" name="Text 3"/>
          <p:cNvSpPr/>
          <p:nvPr/>
        </p:nvSpPr>
        <p:spPr>
          <a:xfrm>
            <a:off x="822960" y="2103120"/>
            <a:ext cx="4937760" cy="457200"/>
          </a:xfrm>
          <a:prstGeom prst="rect">
            <a:avLst/>
          </a:prstGeom>
          <a:noFill/>
          <a:ln/>
        </p:spPr>
        <p:txBody>
          <a:bodyPr wrap="square" lIns="0" tIns="0" rIns="0" bIns="0" rtlCol="0" anchor="ctr"/>
          <a:lstStyle/>
          <a:p>
            <a:pPr indent="0" marL="0">
              <a:buNone/>
            </a:pPr>
            <a:r>
              <a:rPr lang="en-US" sz="1550" b="1" dirty="0">
                <a:solidFill>
                  <a:srgbClr val="34D399"/>
                </a:solidFill>
                <a:latin typeface="Calibri" pitchFamily="34" charset="0"/>
                <a:ea typeface="Calibri" pitchFamily="34" charset="-122"/>
                <a:cs typeface="Calibri" pitchFamily="34" charset="-120"/>
              </a:rPr>
              <a:t>Destructive primitives do not exist in the registry</a:t>
            </a:r>
            <a:endParaRPr lang="en-US" sz="1550" dirty="0"/>
          </a:p>
        </p:txBody>
      </p:sp>
      <p:sp>
        <p:nvSpPr>
          <p:cNvPr id="6" name="Text 4"/>
          <p:cNvSpPr/>
          <p:nvPr/>
        </p:nvSpPr>
        <p:spPr>
          <a:xfrm>
            <a:off x="822960" y="2697480"/>
            <a:ext cx="4937760" cy="2194560"/>
          </a:xfrm>
          <a:prstGeom prst="rect">
            <a:avLst/>
          </a:prstGeom>
          <a:noFill/>
          <a:ln/>
        </p:spPr>
        <p:txBody>
          <a:bodyPr wrap="square" lIns="0" tIns="0" rIns="0" bIns="0" rtlCol="0" anchor="ctr"/>
          <a:lstStyle/>
          <a:p>
            <a:pPr indent="0" marL="0">
              <a:lnSpc>
                <a:spcPct val="122000"/>
              </a:lnSpc>
              <a:buNone/>
            </a:pPr>
            <a:r>
              <a:rPr lang="en-US" sz="1400" dirty="0">
                <a:solidFill>
                  <a:srgbClr val="E2E8F0"/>
                </a:solidFill>
                <a:latin typeface="Calibri" pitchFamily="34" charset="0"/>
                <a:ea typeface="Calibri" pitchFamily="34" charset="-122"/>
                <a:cs typeface="Calibri" pitchFamily="34" charset="-120"/>
              </a:rPr>
              <a:t>There is no rule for the model to break and nothing to convince. Shell execution, file writes, deletion, mount, network egress, eval — every destructive operation is checked by name, by CI, on every commit. The registered surface is asserted as an exact set, so adding a tool can never silently widen the boundary.</a:t>
            </a:r>
            <a:endParaRPr lang="en-US" sz="1400" dirty="0"/>
          </a:p>
        </p:txBody>
      </p:sp>
      <p:sp>
        <p:nvSpPr>
          <p:cNvPr id="7" name="Text 5"/>
          <p:cNvSpPr/>
          <p:nvPr/>
        </p:nvSpPr>
        <p:spPr>
          <a:xfrm>
            <a:off x="822960" y="5394960"/>
            <a:ext cx="4937760" cy="365760"/>
          </a:xfrm>
          <a:prstGeom prst="rect">
            <a:avLst/>
          </a:prstGeom>
          <a:noFill/>
          <a:ln/>
        </p:spPr>
        <p:txBody>
          <a:bodyPr wrap="square" lIns="0" tIns="0" rIns="0" bIns="0" rtlCol="0" anchor="ctr"/>
          <a:lstStyle/>
          <a:p>
            <a:pPr indent="0" marL="0">
              <a:buNone/>
            </a:pPr>
            <a:r>
              <a:rPr lang="en-US" sz="1300" b="1" i="1" dirty="0">
                <a:solidFill>
                  <a:srgbClr val="34D399"/>
                </a:solidFill>
                <a:latin typeface="Calibri" pitchFamily="34" charset="0"/>
                <a:ea typeface="Calibri" pitchFamily="34" charset="-122"/>
                <a:cs typeface="Calibri" pitchFamily="34" charset="-120"/>
              </a:rPr>
              <a:t>architectural  —  not prompt-based</a:t>
            </a:r>
            <a:endParaRPr lang="en-US" sz="1300" dirty="0"/>
          </a:p>
        </p:txBody>
      </p:sp>
      <p:sp>
        <p:nvSpPr>
          <p:cNvPr id="8" name="Shape 6"/>
          <p:cNvSpPr/>
          <p:nvPr/>
        </p:nvSpPr>
        <p:spPr>
          <a:xfrm>
            <a:off x="6309360" y="1874520"/>
            <a:ext cx="5303520" cy="4114800"/>
          </a:xfrm>
          <a:prstGeom prst="roundRect">
            <a:avLst>
              <a:gd name="adj" fmla="val 2000"/>
            </a:avLst>
          </a:prstGeom>
          <a:solidFill>
            <a:srgbClr val="172033"/>
          </a:solidFill>
          <a:ln w="12700">
            <a:solidFill>
              <a:srgbClr val="334155"/>
            </a:solidFill>
            <a:prstDash val="solid"/>
          </a:ln>
          <a:effectLst>
            <a:outerShdw sx="100000" sy="100000" kx="0" ky="0" algn="bl" rotWithShape="0" blurRad="101600" dist="38100" dir="5400000">
              <a:srgbClr val="000000">
                <a:alpha val="28000"/>
              </a:srgbClr>
            </a:outerShdw>
          </a:effectLst>
        </p:spPr>
      </p:sp>
      <p:sp>
        <p:nvSpPr>
          <p:cNvPr id="9" name="Text 7"/>
          <p:cNvSpPr/>
          <p:nvPr/>
        </p:nvSpPr>
        <p:spPr>
          <a:xfrm>
            <a:off x="6583680" y="2103120"/>
            <a:ext cx="4754880" cy="411480"/>
          </a:xfrm>
          <a:prstGeom prst="rect">
            <a:avLst/>
          </a:prstGeom>
          <a:noFill/>
          <a:ln/>
        </p:spPr>
        <p:txBody>
          <a:bodyPr wrap="square" lIns="0" tIns="0" rIns="0" bIns="0" rtlCol="0" anchor="ctr"/>
          <a:lstStyle/>
          <a:p>
            <a:pPr indent="0" marL="0">
              <a:buNone/>
            </a:pPr>
            <a:r>
              <a:rPr lang="en-US" sz="1400" b="1" dirty="0">
                <a:solidFill>
                  <a:srgbClr val="FBBF24"/>
                </a:solidFill>
                <a:latin typeface="Calibri" pitchFamily="34" charset="0"/>
                <a:ea typeface="Calibri" pitchFamily="34" charset="-122"/>
                <a:cs typeface="Calibri" pitchFamily="34" charset="-120"/>
              </a:rPr>
              <a:t>Tested for bypass on every push</a:t>
            </a:r>
            <a:endParaRPr lang="en-US" sz="1400" dirty="0"/>
          </a:p>
        </p:txBody>
      </p:sp>
      <p:sp>
        <p:nvSpPr>
          <p:cNvPr id="10" name="Shape 8"/>
          <p:cNvSpPr/>
          <p:nvPr/>
        </p:nvSpPr>
        <p:spPr>
          <a:xfrm>
            <a:off x="6583680" y="2642616"/>
            <a:ext cx="146304" cy="146304"/>
          </a:xfrm>
          <a:prstGeom prst="ellipse">
            <a:avLst/>
          </a:prstGeom>
          <a:solidFill>
            <a:srgbClr val="34D399"/>
          </a:solidFill>
          <a:ln/>
        </p:spPr>
      </p:sp>
      <p:sp>
        <p:nvSpPr>
          <p:cNvPr id="11" name="Text 9"/>
          <p:cNvSpPr/>
          <p:nvPr/>
        </p:nvSpPr>
        <p:spPr>
          <a:xfrm>
            <a:off x="6858000" y="2606040"/>
            <a:ext cx="4572000" cy="310896"/>
          </a:xfrm>
          <a:prstGeom prst="rect">
            <a:avLst/>
          </a:prstGeom>
          <a:noFill/>
          <a:ln/>
        </p:spPr>
        <p:txBody>
          <a:bodyPr wrap="square" lIns="0" tIns="0" rIns="0" bIns="0" rtlCol="0" anchor="ctr"/>
          <a:lstStyle/>
          <a:p>
            <a:pPr indent="0" marL="0">
              <a:buNone/>
            </a:pPr>
            <a:r>
              <a:rPr lang="en-US" sz="1280" b="1" dirty="0">
                <a:solidFill>
                  <a:srgbClr val="E2E8F0"/>
                </a:solidFill>
                <a:latin typeface="Calibri" pitchFamily="34" charset="0"/>
                <a:ea typeface="Calibri" pitchFamily="34" charset="-122"/>
                <a:cs typeface="Calibri" pitchFamily="34" charset="-120"/>
              </a:rPr>
              <a:t>Destructive names → ToolNotFound</a:t>
            </a:r>
            <a:endParaRPr lang="en-US" sz="1280" dirty="0"/>
          </a:p>
        </p:txBody>
      </p:sp>
      <p:sp>
        <p:nvSpPr>
          <p:cNvPr id="12" name="Text 10"/>
          <p:cNvSpPr/>
          <p:nvPr/>
        </p:nvSpPr>
        <p:spPr>
          <a:xfrm>
            <a:off x="6858000" y="2898648"/>
            <a:ext cx="457200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at the dispatcher</a:t>
            </a:r>
            <a:endParaRPr lang="en-US" sz="1100" dirty="0"/>
          </a:p>
        </p:txBody>
      </p:sp>
      <p:sp>
        <p:nvSpPr>
          <p:cNvPr id="13" name="Shape 11"/>
          <p:cNvSpPr/>
          <p:nvPr/>
        </p:nvSpPr>
        <p:spPr>
          <a:xfrm>
            <a:off x="6583680" y="3300984"/>
            <a:ext cx="146304" cy="146304"/>
          </a:xfrm>
          <a:prstGeom prst="ellipse">
            <a:avLst/>
          </a:prstGeom>
          <a:solidFill>
            <a:srgbClr val="34D399"/>
          </a:solidFill>
          <a:ln/>
        </p:spPr>
      </p:sp>
      <p:sp>
        <p:nvSpPr>
          <p:cNvPr id="14" name="Text 12"/>
          <p:cNvSpPr/>
          <p:nvPr/>
        </p:nvSpPr>
        <p:spPr>
          <a:xfrm>
            <a:off x="6858000" y="3264408"/>
            <a:ext cx="4572000" cy="310896"/>
          </a:xfrm>
          <a:prstGeom prst="rect">
            <a:avLst/>
          </a:prstGeom>
          <a:noFill/>
          <a:ln/>
        </p:spPr>
        <p:txBody>
          <a:bodyPr wrap="square" lIns="0" tIns="0" rIns="0" bIns="0" rtlCol="0" anchor="ctr"/>
          <a:lstStyle/>
          <a:p>
            <a:pPr indent="0" marL="0">
              <a:buNone/>
            </a:pPr>
            <a:r>
              <a:rPr lang="en-US" sz="1280" b="1" dirty="0">
                <a:solidFill>
                  <a:srgbClr val="E2E8F0"/>
                </a:solidFill>
                <a:latin typeface="Calibri" pitchFamily="34" charset="0"/>
                <a:ea typeface="Calibri" pitchFamily="34" charset="-122"/>
                <a:cs typeface="Calibri" pitchFamily="34" charset="-120"/>
              </a:rPr>
              <a:t>Surface asserted as an exact set</a:t>
            </a:r>
            <a:endParaRPr lang="en-US" sz="1280" dirty="0"/>
          </a:p>
        </p:txBody>
      </p:sp>
      <p:sp>
        <p:nvSpPr>
          <p:cNvPr id="15" name="Text 13"/>
          <p:cNvSpPr/>
          <p:nvPr/>
        </p:nvSpPr>
        <p:spPr>
          <a:xfrm>
            <a:off x="6858000" y="3557016"/>
            <a:ext cx="457200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positive + negative list</a:t>
            </a:r>
            <a:endParaRPr lang="en-US" sz="1100" dirty="0"/>
          </a:p>
        </p:txBody>
      </p:sp>
      <p:sp>
        <p:nvSpPr>
          <p:cNvPr id="16" name="Shape 14"/>
          <p:cNvSpPr/>
          <p:nvPr/>
        </p:nvSpPr>
        <p:spPr>
          <a:xfrm>
            <a:off x="6583680" y="3959352"/>
            <a:ext cx="146304" cy="146304"/>
          </a:xfrm>
          <a:prstGeom prst="ellipse">
            <a:avLst/>
          </a:prstGeom>
          <a:solidFill>
            <a:srgbClr val="34D399"/>
          </a:solidFill>
          <a:ln/>
        </p:spPr>
      </p:sp>
      <p:sp>
        <p:nvSpPr>
          <p:cNvPr id="17" name="Text 15"/>
          <p:cNvSpPr/>
          <p:nvPr/>
        </p:nvSpPr>
        <p:spPr>
          <a:xfrm>
            <a:off x="6858000" y="3922776"/>
            <a:ext cx="4572000" cy="310896"/>
          </a:xfrm>
          <a:prstGeom prst="rect">
            <a:avLst/>
          </a:prstGeom>
          <a:noFill/>
          <a:ln/>
        </p:spPr>
        <p:txBody>
          <a:bodyPr wrap="square" lIns="0" tIns="0" rIns="0" bIns="0" rtlCol="0" anchor="ctr"/>
          <a:lstStyle/>
          <a:p>
            <a:pPr indent="0" marL="0">
              <a:buNone/>
            </a:pPr>
            <a:r>
              <a:rPr lang="en-US" sz="1280" b="1" dirty="0">
                <a:solidFill>
                  <a:srgbClr val="E2E8F0"/>
                </a:solidFill>
                <a:latin typeface="Calibri" pitchFamily="34" charset="0"/>
                <a:ea typeface="Calibri" pitchFamily="34" charset="-122"/>
                <a:cs typeface="Calibri" pitchFamily="34" charset="-120"/>
              </a:rPr>
              <a:t>Path traversal / absolute / null-byte</a:t>
            </a:r>
            <a:endParaRPr lang="en-US" sz="1280" dirty="0"/>
          </a:p>
        </p:txBody>
      </p:sp>
      <p:sp>
        <p:nvSpPr>
          <p:cNvPr id="18" name="Text 16"/>
          <p:cNvSpPr/>
          <p:nvPr/>
        </p:nvSpPr>
        <p:spPr>
          <a:xfrm>
            <a:off x="6858000" y="4215384"/>
            <a:ext cx="457200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blocked before any body runs</a:t>
            </a:r>
            <a:endParaRPr lang="en-US" sz="1100" dirty="0"/>
          </a:p>
        </p:txBody>
      </p:sp>
      <p:sp>
        <p:nvSpPr>
          <p:cNvPr id="19" name="Shape 17"/>
          <p:cNvSpPr/>
          <p:nvPr/>
        </p:nvSpPr>
        <p:spPr>
          <a:xfrm>
            <a:off x="6583680" y="4617720"/>
            <a:ext cx="146304" cy="146304"/>
          </a:xfrm>
          <a:prstGeom prst="ellipse">
            <a:avLst/>
          </a:prstGeom>
          <a:solidFill>
            <a:srgbClr val="34D399"/>
          </a:solidFill>
          <a:ln/>
        </p:spPr>
      </p:sp>
      <p:sp>
        <p:nvSpPr>
          <p:cNvPr id="20" name="Text 18"/>
          <p:cNvSpPr/>
          <p:nvPr/>
        </p:nvSpPr>
        <p:spPr>
          <a:xfrm>
            <a:off x="6858000" y="4581144"/>
            <a:ext cx="4572000" cy="310896"/>
          </a:xfrm>
          <a:prstGeom prst="rect">
            <a:avLst/>
          </a:prstGeom>
          <a:noFill/>
          <a:ln/>
        </p:spPr>
        <p:txBody>
          <a:bodyPr wrap="square" lIns="0" tIns="0" rIns="0" bIns="0" rtlCol="0" anchor="ctr"/>
          <a:lstStyle/>
          <a:p>
            <a:pPr indent="0" marL="0">
              <a:buNone/>
            </a:pPr>
            <a:r>
              <a:rPr lang="en-US" sz="1280" b="1" dirty="0">
                <a:solidFill>
                  <a:srgbClr val="E2E8F0"/>
                </a:solidFill>
                <a:latin typeface="Calibri" pitchFamily="34" charset="0"/>
                <a:ea typeface="Calibri" pitchFamily="34" charset="-122"/>
                <a:cs typeface="Calibri" pitchFamily="34" charset="-120"/>
              </a:rPr>
              <a:t>SQL-injection on the query engine</a:t>
            </a:r>
            <a:endParaRPr lang="en-US" sz="1280" dirty="0"/>
          </a:p>
        </p:txBody>
      </p:sp>
      <p:sp>
        <p:nvSpPr>
          <p:cNvPr id="21" name="Text 19"/>
          <p:cNvSpPr/>
          <p:nvPr/>
        </p:nvSpPr>
        <p:spPr>
          <a:xfrm>
            <a:off x="6858000" y="4873752"/>
            <a:ext cx="457200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character allowlist + keyword block</a:t>
            </a:r>
            <a:endParaRPr lang="en-US" sz="1100" dirty="0"/>
          </a:p>
        </p:txBody>
      </p:sp>
      <p:sp>
        <p:nvSpPr>
          <p:cNvPr id="22" name="Shape 20"/>
          <p:cNvSpPr/>
          <p:nvPr/>
        </p:nvSpPr>
        <p:spPr>
          <a:xfrm>
            <a:off x="6583680" y="5276088"/>
            <a:ext cx="146304" cy="146304"/>
          </a:xfrm>
          <a:prstGeom prst="ellipse">
            <a:avLst/>
          </a:prstGeom>
          <a:solidFill>
            <a:srgbClr val="34D399"/>
          </a:solidFill>
          <a:ln/>
        </p:spPr>
      </p:sp>
      <p:sp>
        <p:nvSpPr>
          <p:cNvPr id="23" name="Text 21"/>
          <p:cNvSpPr/>
          <p:nvPr/>
        </p:nvSpPr>
        <p:spPr>
          <a:xfrm>
            <a:off x="6858000" y="5239512"/>
            <a:ext cx="4572000" cy="310896"/>
          </a:xfrm>
          <a:prstGeom prst="rect">
            <a:avLst/>
          </a:prstGeom>
          <a:noFill/>
          <a:ln/>
        </p:spPr>
        <p:txBody>
          <a:bodyPr wrap="square" lIns="0" tIns="0" rIns="0" bIns="0" rtlCol="0" anchor="ctr"/>
          <a:lstStyle/>
          <a:p>
            <a:pPr indent="0" marL="0">
              <a:buNone/>
            </a:pPr>
            <a:r>
              <a:rPr lang="en-US" sz="1280" b="1" dirty="0">
                <a:solidFill>
                  <a:srgbClr val="E2E8F0"/>
                </a:solidFill>
                <a:latin typeface="Calibri" pitchFamily="34" charset="0"/>
                <a:ea typeface="Calibri" pitchFamily="34" charset="-122"/>
                <a:cs typeface="Calibri" pitchFamily="34" charset="-120"/>
              </a:rPr>
              <a:t>Write probe outside evidence root</a:t>
            </a:r>
            <a:endParaRPr lang="en-US" sz="1280" dirty="0"/>
          </a:p>
        </p:txBody>
      </p:sp>
      <p:sp>
        <p:nvSpPr>
          <p:cNvPr id="24" name="Text 22"/>
          <p:cNvSpPr/>
          <p:nvPr/>
        </p:nvSpPr>
        <p:spPr>
          <a:xfrm>
            <a:off x="6858000" y="5532120"/>
            <a:ext cx="457200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resolves to zero</a:t>
            </a:r>
            <a:endParaRPr lang="en-US" sz="1100" dirty="0"/>
          </a:p>
        </p:txBody>
      </p:sp>
      <p:sp>
        <p:nvSpPr>
          <p:cNvPr id="25" name="Text 23"/>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26" name="Text 24"/>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05 / 13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HOW IT'S BUILT</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Six packages, one read-only boundary</a:t>
            </a:r>
            <a:endParaRPr lang="en-US" sz="3100" dirty="0"/>
          </a:p>
        </p:txBody>
      </p:sp>
      <p:sp>
        <p:nvSpPr>
          <p:cNvPr id="4" name="Shape 2"/>
          <p:cNvSpPr/>
          <p:nvPr/>
        </p:nvSpPr>
        <p:spPr>
          <a:xfrm>
            <a:off x="548640" y="1874520"/>
            <a:ext cx="3493008" cy="1920240"/>
          </a:xfrm>
          <a:prstGeom prst="roundRect">
            <a:avLst>
              <a:gd name="adj" fmla="val 4286"/>
            </a:avLst>
          </a:prstGeom>
          <a:solidFill>
            <a:srgbClr val="1E293B"/>
          </a:solidFill>
          <a:ln w="12700">
            <a:solidFill>
              <a:srgbClr val="38BDF8"/>
            </a:solidFill>
            <a:prstDash val="solid"/>
          </a:ln>
          <a:effectLst>
            <a:outerShdw sx="100000" sy="100000" kx="0" ky="0" algn="bl" rotWithShape="0" blurRad="101600" dist="38100" dir="5400000">
              <a:srgbClr val="000000">
                <a:alpha val="28000"/>
              </a:srgbClr>
            </a:outerShdw>
          </a:effectLst>
        </p:spPr>
      </p:sp>
      <p:sp>
        <p:nvSpPr>
          <p:cNvPr id="5" name="Text 3"/>
          <p:cNvSpPr/>
          <p:nvPr/>
        </p:nvSpPr>
        <p:spPr>
          <a:xfrm>
            <a:off x="804672" y="2075688"/>
            <a:ext cx="3017520" cy="457200"/>
          </a:xfrm>
          <a:prstGeom prst="rect">
            <a:avLst/>
          </a:prstGeom>
          <a:noFill/>
          <a:ln/>
        </p:spPr>
        <p:txBody>
          <a:bodyPr wrap="square" lIns="0" tIns="0" rIns="0" bIns="0" rtlCol="0" anchor="ctr"/>
          <a:lstStyle/>
          <a:p>
            <a:pPr indent="0" marL="0">
              <a:buNone/>
            </a:pPr>
            <a:r>
              <a:rPr lang="en-US" sz="1600" b="1" dirty="0">
                <a:solidFill>
                  <a:srgbClr val="38BDF8"/>
                </a:solidFill>
                <a:latin typeface="Courier New" pitchFamily="34" charset="0"/>
                <a:ea typeface="Courier New" pitchFamily="34" charset="-122"/>
                <a:cs typeface="Courier New" pitchFamily="34" charset="-120"/>
              </a:rPr>
              <a:t>dart_mcp</a:t>
            </a:r>
            <a:endParaRPr lang="en-US" sz="1600" dirty="0"/>
          </a:p>
        </p:txBody>
      </p:sp>
      <p:sp>
        <p:nvSpPr>
          <p:cNvPr id="6" name="Text 4"/>
          <p:cNvSpPr/>
          <p:nvPr/>
        </p:nvSpPr>
        <p:spPr>
          <a:xfrm>
            <a:off x="804672" y="2624328"/>
            <a:ext cx="3017520" cy="1051560"/>
          </a:xfrm>
          <a:prstGeom prst="rect">
            <a:avLst/>
          </a:prstGeom>
          <a:noFill/>
          <a:ln/>
        </p:spPr>
        <p:txBody>
          <a:bodyPr wrap="square" lIns="0" tIns="0" rIns="0" bIns="0" rtlCol="0" anchor="ctr"/>
          <a:lstStyle/>
          <a:p>
            <a:pPr indent="0" marL="0">
              <a:lnSpc>
                <a:spcPct val="114000"/>
              </a:lnSpc>
              <a:buNone/>
            </a:pPr>
            <a:r>
              <a:rPr lang="en-US" sz="1230" dirty="0">
                <a:solidFill>
                  <a:srgbClr val="94A3B8"/>
                </a:solidFill>
                <a:latin typeface="Calibri" pitchFamily="34" charset="0"/>
                <a:ea typeface="Calibri" pitchFamily="34" charset="-122"/>
                <a:cs typeface="Calibri" pitchFamily="34" charset="-120"/>
              </a:rPr>
              <a:t>73 typed read-only forensic functions — the MCP surface and the primary enforcement layer</a:t>
            </a:r>
            <a:endParaRPr lang="en-US" sz="1230" dirty="0"/>
          </a:p>
        </p:txBody>
      </p:sp>
      <p:sp>
        <p:nvSpPr>
          <p:cNvPr id="7" name="Shape 5"/>
          <p:cNvSpPr/>
          <p:nvPr/>
        </p:nvSpPr>
        <p:spPr>
          <a:xfrm>
            <a:off x="4270248" y="1874520"/>
            <a:ext cx="3493008" cy="1920240"/>
          </a:xfrm>
          <a:prstGeom prst="roundRect">
            <a:avLst>
              <a:gd name="adj" fmla="val 4286"/>
            </a:avLst>
          </a:prstGeom>
          <a:solidFill>
            <a:srgbClr val="1E293B"/>
          </a:solidFill>
          <a:ln w="12700">
            <a:solidFill>
              <a:srgbClr val="34D399"/>
            </a:solidFill>
            <a:prstDash val="solid"/>
          </a:ln>
          <a:effectLst>
            <a:outerShdw sx="100000" sy="100000" kx="0" ky="0" algn="bl" rotWithShape="0" blurRad="101600" dist="38100" dir="5400000">
              <a:srgbClr val="000000">
                <a:alpha val="28000"/>
              </a:srgbClr>
            </a:outerShdw>
          </a:effectLst>
        </p:spPr>
      </p:sp>
      <p:sp>
        <p:nvSpPr>
          <p:cNvPr id="8" name="Text 6"/>
          <p:cNvSpPr/>
          <p:nvPr/>
        </p:nvSpPr>
        <p:spPr>
          <a:xfrm>
            <a:off x="4526280" y="2075688"/>
            <a:ext cx="3017520" cy="457200"/>
          </a:xfrm>
          <a:prstGeom prst="rect">
            <a:avLst/>
          </a:prstGeom>
          <a:noFill/>
          <a:ln/>
        </p:spPr>
        <p:txBody>
          <a:bodyPr wrap="square" lIns="0" tIns="0" rIns="0" bIns="0" rtlCol="0" anchor="ctr"/>
          <a:lstStyle/>
          <a:p>
            <a:pPr indent="0" marL="0">
              <a:buNone/>
            </a:pPr>
            <a:r>
              <a:rPr lang="en-US" sz="1600" b="1" dirty="0">
                <a:solidFill>
                  <a:srgbClr val="34D399"/>
                </a:solidFill>
                <a:latin typeface="Courier New" pitchFamily="34" charset="0"/>
                <a:ea typeface="Courier New" pitchFamily="34" charset="-122"/>
                <a:cs typeface="Courier New" pitchFamily="34" charset="-120"/>
              </a:rPr>
              <a:t>dart_audit</a:t>
            </a:r>
            <a:endParaRPr lang="en-US" sz="1600" dirty="0"/>
          </a:p>
        </p:txBody>
      </p:sp>
      <p:sp>
        <p:nvSpPr>
          <p:cNvPr id="9" name="Text 7"/>
          <p:cNvSpPr/>
          <p:nvPr/>
        </p:nvSpPr>
        <p:spPr>
          <a:xfrm>
            <a:off x="4526280" y="2624328"/>
            <a:ext cx="3017520" cy="1051560"/>
          </a:xfrm>
          <a:prstGeom prst="rect">
            <a:avLst/>
          </a:prstGeom>
          <a:noFill/>
          <a:ln/>
        </p:spPr>
        <p:txBody>
          <a:bodyPr wrap="square" lIns="0" tIns="0" rIns="0" bIns="0" rtlCol="0" anchor="ctr"/>
          <a:lstStyle/>
          <a:p>
            <a:pPr indent="0" marL="0">
              <a:lnSpc>
                <a:spcPct val="114000"/>
              </a:lnSpc>
              <a:buNone/>
            </a:pPr>
            <a:r>
              <a:rPr lang="en-US" sz="1230" dirty="0">
                <a:solidFill>
                  <a:srgbClr val="94A3B8"/>
                </a:solidFill>
                <a:latin typeface="Calibri" pitchFamily="34" charset="0"/>
                <a:ea typeface="Calibri" pitchFamily="34" charset="-122"/>
                <a:cs typeface="Calibri" pitchFamily="34" charset="-120"/>
              </a:rPr>
              <a:t>SHA-256 hash-linked audit chain; every tool call sealed with prev/entry hash</a:t>
            </a:r>
            <a:endParaRPr lang="en-US" sz="1230" dirty="0"/>
          </a:p>
        </p:txBody>
      </p:sp>
      <p:sp>
        <p:nvSpPr>
          <p:cNvPr id="10" name="Shape 8"/>
          <p:cNvSpPr/>
          <p:nvPr/>
        </p:nvSpPr>
        <p:spPr>
          <a:xfrm>
            <a:off x="7991856" y="1874520"/>
            <a:ext cx="3493008" cy="1920240"/>
          </a:xfrm>
          <a:prstGeom prst="roundRect">
            <a:avLst>
              <a:gd name="adj" fmla="val 4286"/>
            </a:avLst>
          </a:prstGeom>
          <a:solidFill>
            <a:srgbClr val="1E293B"/>
          </a:solidFill>
          <a:ln w="12700">
            <a:solidFill>
              <a:srgbClr val="A78BFA"/>
            </a:solidFill>
            <a:prstDash val="solid"/>
          </a:ln>
          <a:effectLst>
            <a:outerShdw sx="100000" sy="100000" kx="0" ky="0" algn="bl" rotWithShape="0" blurRad="101600" dist="38100" dir="5400000">
              <a:srgbClr val="000000">
                <a:alpha val="28000"/>
              </a:srgbClr>
            </a:outerShdw>
          </a:effectLst>
        </p:spPr>
      </p:sp>
      <p:sp>
        <p:nvSpPr>
          <p:cNvPr id="11" name="Text 9"/>
          <p:cNvSpPr/>
          <p:nvPr/>
        </p:nvSpPr>
        <p:spPr>
          <a:xfrm>
            <a:off x="8247888" y="2075688"/>
            <a:ext cx="3017520" cy="457200"/>
          </a:xfrm>
          <a:prstGeom prst="rect">
            <a:avLst/>
          </a:prstGeom>
          <a:noFill/>
          <a:ln/>
        </p:spPr>
        <p:txBody>
          <a:bodyPr wrap="square" lIns="0" tIns="0" rIns="0" bIns="0" rtlCol="0" anchor="ctr"/>
          <a:lstStyle/>
          <a:p>
            <a:pPr indent="0" marL="0">
              <a:buNone/>
            </a:pPr>
            <a:r>
              <a:rPr lang="en-US" sz="1600" b="1" dirty="0">
                <a:solidFill>
                  <a:srgbClr val="A78BFA"/>
                </a:solidFill>
                <a:latin typeface="Courier New" pitchFamily="34" charset="0"/>
                <a:ea typeface="Courier New" pitchFamily="34" charset="-122"/>
                <a:cs typeface="Courier New" pitchFamily="34" charset="-120"/>
              </a:rPr>
              <a:t>dart_agent</a:t>
            </a:r>
            <a:endParaRPr lang="en-US" sz="1600" dirty="0"/>
          </a:p>
        </p:txBody>
      </p:sp>
      <p:sp>
        <p:nvSpPr>
          <p:cNvPr id="12" name="Text 10"/>
          <p:cNvSpPr/>
          <p:nvPr/>
        </p:nvSpPr>
        <p:spPr>
          <a:xfrm>
            <a:off x="8247888" y="2624328"/>
            <a:ext cx="3017520" cy="1051560"/>
          </a:xfrm>
          <a:prstGeom prst="rect">
            <a:avLst/>
          </a:prstGeom>
          <a:noFill/>
          <a:ln/>
        </p:spPr>
        <p:txBody>
          <a:bodyPr wrap="square" lIns="0" tIns="0" rIns="0" bIns="0" rtlCol="0" anchor="ctr"/>
          <a:lstStyle/>
          <a:p>
            <a:pPr indent="0" marL="0">
              <a:lnSpc>
                <a:spcPct val="114000"/>
              </a:lnSpc>
              <a:buNone/>
            </a:pPr>
            <a:r>
              <a:rPr lang="en-US" sz="1230" dirty="0">
                <a:solidFill>
                  <a:srgbClr val="94A3B8"/>
                </a:solidFill>
                <a:latin typeface="Calibri" pitchFamily="34" charset="0"/>
                <a:ea typeface="Calibri" pitchFamily="34" charset="-122"/>
                <a:cs typeface="Calibri" pitchFamily="34" charset="-120"/>
              </a:rPr>
              <a:t>the autonomous loop — hypothesis, tool calls, iteration, serializer that blocks un-cited claims</a:t>
            </a:r>
            <a:endParaRPr lang="en-US" sz="1230" dirty="0"/>
          </a:p>
        </p:txBody>
      </p:sp>
      <p:sp>
        <p:nvSpPr>
          <p:cNvPr id="13" name="Shape 11"/>
          <p:cNvSpPr/>
          <p:nvPr/>
        </p:nvSpPr>
        <p:spPr>
          <a:xfrm>
            <a:off x="548640" y="3995928"/>
            <a:ext cx="3493008" cy="1920240"/>
          </a:xfrm>
          <a:prstGeom prst="roundRect">
            <a:avLst>
              <a:gd name="adj" fmla="val 4286"/>
            </a:avLst>
          </a:prstGeom>
          <a:solidFill>
            <a:srgbClr val="1E293B"/>
          </a:solidFill>
          <a:ln w="12700">
            <a:solidFill>
              <a:srgbClr val="FBBF24"/>
            </a:solidFill>
            <a:prstDash val="solid"/>
          </a:ln>
          <a:effectLst>
            <a:outerShdw sx="100000" sy="100000" kx="0" ky="0" algn="bl" rotWithShape="0" blurRad="101600" dist="38100" dir="5400000">
              <a:srgbClr val="000000">
                <a:alpha val="28000"/>
              </a:srgbClr>
            </a:outerShdw>
          </a:effectLst>
        </p:spPr>
      </p:sp>
      <p:sp>
        <p:nvSpPr>
          <p:cNvPr id="14" name="Text 12"/>
          <p:cNvSpPr/>
          <p:nvPr/>
        </p:nvSpPr>
        <p:spPr>
          <a:xfrm>
            <a:off x="804672" y="4197096"/>
            <a:ext cx="3017520" cy="457200"/>
          </a:xfrm>
          <a:prstGeom prst="rect">
            <a:avLst/>
          </a:prstGeom>
          <a:noFill/>
          <a:ln/>
        </p:spPr>
        <p:txBody>
          <a:bodyPr wrap="square" lIns="0" tIns="0" rIns="0" bIns="0" rtlCol="0" anchor="ctr"/>
          <a:lstStyle/>
          <a:p>
            <a:pPr indent="0" marL="0">
              <a:buNone/>
            </a:pPr>
            <a:r>
              <a:rPr lang="en-US" sz="1600" b="1" dirty="0">
                <a:solidFill>
                  <a:srgbClr val="FBBF24"/>
                </a:solidFill>
                <a:latin typeface="Courier New" pitchFamily="34" charset="0"/>
                <a:ea typeface="Courier New" pitchFamily="34" charset="-122"/>
                <a:cs typeface="Courier New" pitchFamily="34" charset="-120"/>
              </a:rPr>
              <a:t>dart_corr</a:t>
            </a:r>
            <a:endParaRPr lang="en-US" sz="1600" dirty="0"/>
          </a:p>
        </p:txBody>
      </p:sp>
      <p:sp>
        <p:nvSpPr>
          <p:cNvPr id="15" name="Text 13"/>
          <p:cNvSpPr/>
          <p:nvPr/>
        </p:nvSpPr>
        <p:spPr>
          <a:xfrm>
            <a:off x="804672" y="4745736"/>
            <a:ext cx="3017520" cy="1051560"/>
          </a:xfrm>
          <a:prstGeom prst="rect">
            <a:avLst/>
          </a:prstGeom>
          <a:noFill/>
          <a:ln/>
        </p:spPr>
        <p:txBody>
          <a:bodyPr wrap="square" lIns="0" tIns="0" rIns="0" bIns="0" rtlCol="0" anchor="ctr"/>
          <a:lstStyle/>
          <a:p>
            <a:pPr indent="0" marL="0">
              <a:lnSpc>
                <a:spcPct val="114000"/>
              </a:lnSpc>
              <a:buNone/>
            </a:pPr>
            <a:r>
              <a:rPr lang="en-US" sz="1230" dirty="0">
                <a:solidFill>
                  <a:srgbClr val="94A3B8"/>
                </a:solidFill>
                <a:latin typeface="Calibri" pitchFamily="34" charset="0"/>
                <a:ea typeface="Calibri" pitchFamily="34" charset="-122"/>
                <a:cs typeface="Calibri" pitchFamily="34" charset="-120"/>
              </a:rPr>
              <a:t>DuckDB contradiction engine — emits UNRESOLVED records that are never auto-resolved</a:t>
            </a:r>
            <a:endParaRPr lang="en-US" sz="1230" dirty="0"/>
          </a:p>
        </p:txBody>
      </p:sp>
      <p:sp>
        <p:nvSpPr>
          <p:cNvPr id="16" name="Shape 14"/>
          <p:cNvSpPr/>
          <p:nvPr/>
        </p:nvSpPr>
        <p:spPr>
          <a:xfrm>
            <a:off x="4270248" y="3995928"/>
            <a:ext cx="3493008" cy="1920240"/>
          </a:xfrm>
          <a:prstGeom prst="roundRect">
            <a:avLst>
              <a:gd name="adj" fmla="val 4286"/>
            </a:avLst>
          </a:prstGeom>
          <a:solidFill>
            <a:srgbClr val="1E293B"/>
          </a:solidFill>
          <a:ln w="12700">
            <a:solidFill>
              <a:srgbClr val="F87171"/>
            </a:solidFill>
            <a:prstDash val="solid"/>
          </a:ln>
          <a:effectLst>
            <a:outerShdw sx="100000" sy="100000" kx="0" ky="0" algn="bl" rotWithShape="0" blurRad="101600" dist="38100" dir="5400000">
              <a:srgbClr val="000000">
                <a:alpha val="28000"/>
              </a:srgbClr>
            </a:outerShdw>
          </a:effectLst>
        </p:spPr>
      </p:sp>
      <p:sp>
        <p:nvSpPr>
          <p:cNvPr id="17" name="Text 15"/>
          <p:cNvSpPr/>
          <p:nvPr/>
        </p:nvSpPr>
        <p:spPr>
          <a:xfrm>
            <a:off x="4526280" y="4197096"/>
            <a:ext cx="3017520" cy="457200"/>
          </a:xfrm>
          <a:prstGeom prst="rect">
            <a:avLst/>
          </a:prstGeom>
          <a:noFill/>
          <a:ln/>
        </p:spPr>
        <p:txBody>
          <a:bodyPr wrap="square" lIns="0" tIns="0" rIns="0" bIns="0" rtlCol="0" anchor="ctr"/>
          <a:lstStyle/>
          <a:p>
            <a:pPr indent="0" marL="0">
              <a:buNone/>
            </a:pPr>
            <a:r>
              <a:rPr lang="en-US" sz="1600" b="1" dirty="0">
                <a:solidFill>
                  <a:srgbClr val="F87171"/>
                </a:solidFill>
                <a:latin typeface="Courier New" pitchFamily="34" charset="0"/>
                <a:ea typeface="Courier New" pitchFamily="34" charset="-122"/>
                <a:cs typeface="Courier New" pitchFamily="34" charset="-120"/>
              </a:rPr>
              <a:t>dart_playbook</a:t>
            </a:r>
            <a:endParaRPr lang="en-US" sz="1600" dirty="0"/>
          </a:p>
        </p:txBody>
      </p:sp>
      <p:sp>
        <p:nvSpPr>
          <p:cNvPr id="18" name="Text 16"/>
          <p:cNvSpPr/>
          <p:nvPr/>
        </p:nvSpPr>
        <p:spPr>
          <a:xfrm>
            <a:off x="4526280" y="4745736"/>
            <a:ext cx="3017520" cy="1051560"/>
          </a:xfrm>
          <a:prstGeom prst="rect">
            <a:avLst/>
          </a:prstGeom>
          <a:noFill/>
          <a:ln/>
        </p:spPr>
        <p:txBody>
          <a:bodyPr wrap="square" lIns="0" tIns="0" rIns="0" bIns="0" rtlCol="0" anchor="ctr"/>
          <a:lstStyle/>
          <a:p>
            <a:pPr indent="0" marL="0">
              <a:lnSpc>
                <a:spcPct val="114000"/>
              </a:lnSpc>
              <a:buNone/>
            </a:pPr>
            <a:r>
              <a:rPr lang="en-US" sz="1230" dirty="0">
                <a:solidFill>
                  <a:srgbClr val="94A3B8"/>
                </a:solidFill>
                <a:latin typeface="Calibri" pitchFamily="34" charset="0"/>
                <a:ea typeface="Calibri" pitchFamily="34" charset="-122"/>
                <a:cs typeface="Calibri" pitchFamily="34" charset="-120"/>
              </a:rPr>
              <a:t>the 10-phase senior-analyst playbook that forces a contradiction check before a verdict</a:t>
            </a:r>
            <a:endParaRPr lang="en-US" sz="1230" dirty="0"/>
          </a:p>
        </p:txBody>
      </p:sp>
      <p:sp>
        <p:nvSpPr>
          <p:cNvPr id="19" name="Shape 17"/>
          <p:cNvSpPr/>
          <p:nvPr/>
        </p:nvSpPr>
        <p:spPr>
          <a:xfrm>
            <a:off x="7991856" y="3995928"/>
            <a:ext cx="3493008" cy="1920240"/>
          </a:xfrm>
          <a:prstGeom prst="roundRect">
            <a:avLst>
              <a:gd name="adj" fmla="val 4286"/>
            </a:avLst>
          </a:prstGeom>
          <a:solidFill>
            <a:srgbClr val="1E293B"/>
          </a:solidFill>
          <a:ln w="12700">
            <a:solidFill>
              <a:srgbClr val="38BDF8"/>
            </a:solidFill>
            <a:prstDash val="solid"/>
          </a:ln>
          <a:effectLst>
            <a:outerShdw sx="100000" sy="100000" kx="0" ky="0" algn="bl" rotWithShape="0" blurRad="101600" dist="38100" dir="5400000">
              <a:srgbClr val="000000">
                <a:alpha val="28000"/>
              </a:srgbClr>
            </a:outerShdw>
          </a:effectLst>
        </p:spPr>
      </p:sp>
      <p:sp>
        <p:nvSpPr>
          <p:cNvPr id="20" name="Text 18"/>
          <p:cNvSpPr/>
          <p:nvPr/>
        </p:nvSpPr>
        <p:spPr>
          <a:xfrm>
            <a:off x="8247888" y="4197096"/>
            <a:ext cx="3017520" cy="457200"/>
          </a:xfrm>
          <a:prstGeom prst="rect">
            <a:avLst/>
          </a:prstGeom>
          <a:noFill/>
          <a:ln/>
        </p:spPr>
        <p:txBody>
          <a:bodyPr wrap="square" lIns="0" tIns="0" rIns="0" bIns="0" rtlCol="0" anchor="ctr"/>
          <a:lstStyle/>
          <a:p>
            <a:pPr indent="0" marL="0">
              <a:buNone/>
            </a:pPr>
            <a:r>
              <a:rPr lang="en-US" sz="1600" b="1" dirty="0">
                <a:solidFill>
                  <a:srgbClr val="38BDF8"/>
                </a:solidFill>
                <a:latin typeface="Courier New" pitchFamily="34" charset="0"/>
                <a:ea typeface="Courier New" pitchFamily="34" charset="-122"/>
                <a:cs typeface="Courier New" pitchFamily="34" charset="-120"/>
              </a:rPr>
              <a:t>SIFT adapters</a:t>
            </a:r>
            <a:endParaRPr lang="en-US" sz="1600" dirty="0"/>
          </a:p>
        </p:txBody>
      </p:sp>
      <p:sp>
        <p:nvSpPr>
          <p:cNvPr id="21" name="Text 19"/>
          <p:cNvSpPr/>
          <p:nvPr/>
        </p:nvSpPr>
        <p:spPr>
          <a:xfrm>
            <a:off x="8247888" y="4745736"/>
            <a:ext cx="3017520" cy="1051560"/>
          </a:xfrm>
          <a:prstGeom prst="rect">
            <a:avLst/>
          </a:prstGeom>
          <a:noFill/>
          <a:ln/>
        </p:spPr>
        <p:txBody>
          <a:bodyPr wrap="square" lIns="0" tIns="0" rIns="0" bIns="0" rtlCol="0" anchor="ctr"/>
          <a:lstStyle/>
          <a:p>
            <a:pPr indent="0" marL="0">
              <a:lnSpc>
                <a:spcPct val="114000"/>
              </a:lnSpc>
              <a:buNone/>
            </a:pPr>
            <a:r>
              <a:rPr lang="en-US" sz="1230" dirty="0">
                <a:solidFill>
                  <a:srgbClr val="94A3B8"/>
                </a:solidFill>
                <a:latin typeface="Calibri" pitchFamily="34" charset="0"/>
                <a:ea typeface="Calibri" pitchFamily="34" charset="-122"/>
                <a:cs typeface="Calibri" pitchFamily="34" charset="-120"/>
              </a:rPr>
              <a:t>25 typed wrappers (Volatility 3, MFTECmd, EvtxECmd, PECmd, YARA, Plaso…) on the same boundary</a:t>
            </a:r>
            <a:endParaRPr lang="en-US" sz="1230" dirty="0"/>
          </a:p>
        </p:txBody>
      </p:sp>
      <p:sp>
        <p:nvSpPr>
          <p:cNvPr id="22" name="Text 20"/>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23" name="Text 21"/>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06 / 13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BREADTH</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48 native functions + 25 SIFT adapters = 73 on one wire</a:t>
            </a:r>
            <a:endParaRPr lang="en-US" sz="3100" dirty="0"/>
          </a:p>
        </p:txBody>
      </p:sp>
      <p:sp>
        <p:nvSpPr>
          <p:cNvPr id="4" name="Shape 2"/>
          <p:cNvSpPr/>
          <p:nvPr/>
        </p:nvSpPr>
        <p:spPr>
          <a:xfrm>
            <a:off x="548640" y="1920240"/>
            <a:ext cx="5394960" cy="4023360"/>
          </a:xfrm>
          <a:prstGeom prst="roundRect">
            <a:avLst>
              <a:gd name="adj" fmla="val 2045"/>
            </a:avLst>
          </a:prstGeom>
          <a:solidFill>
            <a:srgbClr val="1E293B"/>
          </a:solidFill>
          <a:ln w="12700">
            <a:solidFill>
              <a:srgbClr val="38BDF8"/>
            </a:solidFill>
            <a:prstDash val="solid"/>
          </a:ln>
          <a:effectLst>
            <a:outerShdw sx="100000" sy="100000" kx="0" ky="0" algn="bl" rotWithShape="0" blurRad="101600" dist="38100" dir="5400000">
              <a:srgbClr val="000000">
                <a:alpha val="28000"/>
              </a:srgbClr>
            </a:outerShdw>
          </a:effectLst>
        </p:spPr>
      </p:sp>
      <p:sp>
        <p:nvSpPr>
          <p:cNvPr id="5" name="Text 3"/>
          <p:cNvSpPr/>
          <p:nvPr/>
        </p:nvSpPr>
        <p:spPr>
          <a:xfrm>
            <a:off x="822960" y="2194560"/>
            <a:ext cx="2194560" cy="914400"/>
          </a:xfrm>
          <a:prstGeom prst="rect">
            <a:avLst/>
          </a:prstGeom>
          <a:noFill/>
          <a:ln/>
        </p:spPr>
        <p:txBody>
          <a:bodyPr wrap="square" lIns="0" tIns="0" rIns="0" bIns="0" rtlCol="0" anchor="ctr"/>
          <a:lstStyle/>
          <a:p>
            <a:pPr indent="0" marL="0">
              <a:buNone/>
            </a:pPr>
            <a:r>
              <a:rPr lang="en-US" sz="5200" b="1" dirty="0">
                <a:solidFill>
                  <a:srgbClr val="38BDF8"/>
                </a:solidFill>
                <a:latin typeface="Cambria" pitchFamily="34" charset="0"/>
                <a:ea typeface="Cambria" pitchFamily="34" charset="-122"/>
                <a:cs typeface="Cambria" pitchFamily="34" charset="-120"/>
              </a:rPr>
              <a:t>48</a:t>
            </a:r>
            <a:endParaRPr lang="en-US" sz="5200" dirty="0"/>
          </a:p>
        </p:txBody>
      </p:sp>
      <p:sp>
        <p:nvSpPr>
          <p:cNvPr id="6" name="Text 4"/>
          <p:cNvSpPr/>
          <p:nvPr/>
        </p:nvSpPr>
        <p:spPr>
          <a:xfrm>
            <a:off x="822960" y="3200400"/>
            <a:ext cx="4846320" cy="45720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native pure-Python forensic functions</a:t>
            </a:r>
            <a:endParaRPr lang="en-US" sz="1400" dirty="0"/>
          </a:p>
        </p:txBody>
      </p:sp>
      <p:sp>
        <p:nvSpPr>
          <p:cNvPr id="7" name="Text 5"/>
          <p:cNvSpPr/>
          <p:nvPr/>
        </p:nvSpPr>
        <p:spPr>
          <a:xfrm>
            <a:off x="822960" y="3703320"/>
            <a:ext cx="4846320" cy="1463040"/>
          </a:xfrm>
          <a:prstGeom prst="rect">
            <a:avLst/>
          </a:prstGeom>
          <a:noFill/>
          <a:ln/>
        </p:spPr>
        <p:txBody>
          <a:bodyPr wrap="square" lIns="0" tIns="0" rIns="0" bIns="0" rtlCol="0" anchor="ctr"/>
          <a:lstStyle/>
          <a:p>
            <a:pPr indent="0" marL="0">
              <a:lnSpc>
                <a:spcPct val="118000"/>
              </a:lnSpc>
              <a:buNone/>
            </a:pPr>
            <a:r>
              <a:rPr lang="en-US" sz="1300" dirty="0">
                <a:solidFill>
                  <a:srgbClr val="94A3B8"/>
                </a:solidFill>
                <a:latin typeface="Calibri" pitchFamily="34" charset="0"/>
                <a:ea typeface="Calibri" pitchFamily="34" charset="-122"/>
                <a:cs typeface="Calibri" pitchFamily="34" charset="-120"/>
              </a:rPr>
              <a:t>Disk, registry, EventLog, MFT, Prefetch, USB, browser, auth, scheduled tasks, Kerberos, ADCS, DNS-tunneling — covering broad MITRE ATT&amp;CK enterprise tactics.</a:t>
            </a:r>
            <a:endParaRPr lang="en-US" sz="1300" dirty="0"/>
          </a:p>
        </p:txBody>
      </p:sp>
      <p:sp>
        <p:nvSpPr>
          <p:cNvPr id="8" name="Shape 6"/>
          <p:cNvSpPr/>
          <p:nvPr/>
        </p:nvSpPr>
        <p:spPr>
          <a:xfrm>
            <a:off x="6217920" y="1920240"/>
            <a:ext cx="5394960" cy="4023360"/>
          </a:xfrm>
          <a:prstGeom prst="roundRect">
            <a:avLst>
              <a:gd name="adj" fmla="val 2045"/>
            </a:avLst>
          </a:prstGeom>
          <a:solidFill>
            <a:srgbClr val="1E293B"/>
          </a:solidFill>
          <a:ln w="12700">
            <a:solidFill>
              <a:srgbClr val="34D399"/>
            </a:solidFill>
            <a:prstDash val="solid"/>
          </a:ln>
          <a:effectLst>
            <a:outerShdw sx="100000" sy="100000" kx="0" ky="0" algn="bl" rotWithShape="0" blurRad="101600" dist="38100" dir="5400000">
              <a:srgbClr val="000000">
                <a:alpha val="28000"/>
              </a:srgbClr>
            </a:outerShdw>
          </a:effectLst>
        </p:spPr>
      </p:sp>
      <p:sp>
        <p:nvSpPr>
          <p:cNvPr id="9" name="Text 7"/>
          <p:cNvSpPr/>
          <p:nvPr/>
        </p:nvSpPr>
        <p:spPr>
          <a:xfrm>
            <a:off x="6492240" y="2194560"/>
            <a:ext cx="2194560" cy="914400"/>
          </a:xfrm>
          <a:prstGeom prst="rect">
            <a:avLst/>
          </a:prstGeom>
          <a:noFill/>
          <a:ln/>
        </p:spPr>
        <p:txBody>
          <a:bodyPr wrap="square" lIns="0" tIns="0" rIns="0" bIns="0" rtlCol="0" anchor="ctr"/>
          <a:lstStyle/>
          <a:p>
            <a:pPr indent="0" marL="0">
              <a:buNone/>
            </a:pPr>
            <a:r>
              <a:rPr lang="en-US" sz="5200" b="1" dirty="0">
                <a:solidFill>
                  <a:srgbClr val="34D399"/>
                </a:solidFill>
                <a:latin typeface="Cambria" pitchFamily="34" charset="0"/>
                <a:ea typeface="Cambria" pitchFamily="34" charset="-122"/>
                <a:cs typeface="Cambria" pitchFamily="34" charset="-120"/>
              </a:rPr>
              <a:t>25</a:t>
            </a:r>
            <a:endParaRPr lang="en-US" sz="5200" dirty="0"/>
          </a:p>
        </p:txBody>
      </p:sp>
      <p:sp>
        <p:nvSpPr>
          <p:cNvPr id="10" name="Text 8"/>
          <p:cNvSpPr/>
          <p:nvPr/>
        </p:nvSpPr>
        <p:spPr>
          <a:xfrm>
            <a:off x="6492240" y="3200400"/>
            <a:ext cx="4846320" cy="457200"/>
          </a:xfrm>
          <a:prstGeom prst="rect">
            <a:avLst/>
          </a:prstGeom>
          <a:noFill/>
          <a:ln/>
        </p:spPr>
        <p:txBody>
          <a:bodyPr wrap="square" lIns="0" tIns="0" rIns="0" bIns="0" rtlCol="0" anchor="ctr"/>
          <a:lstStyle/>
          <a:p>
            <a:pPr indent="0" marL="0">
              <a:buNone/>
            </a:pPr>
            <a:r>
              <a:rPr lang="en-US" sz="1400" b="1" dirty="0">
                <a:solidFill>
                  <a:srgbClr val="E2E8F0"/>
                </a:solidFill>
                <a:latin typeface="Calibri" pitchFamily="34" charset="0"/>
                <a:ea typeface="Calibri" pitchFamily="34" charset="-122"/>
                <a:cs typeface="Calibri" pitchFamily="34" charset="-120"/>
              </a:rPr>
              <a:t>SIFT Workstation tool adapters</a:t>
            </a:r>
            <a:endParaRPr lang="en-US" sz="1400" dirty="0"/>
          </a:p>
        </p:txBody>
      </p:sp>
      <p:sp>
        <p:nvSpPr>
          <p:cNvPr id="11" name="Text 9"/>
          <p:cNvSpPr/>
          <p:nvPr/>
        </p:nvSpPr>
        <p:spPr>
          <a:xfrm>
            <a:off x="6492240" y="3703320"/>
            <a:ext cx="4846320" cy="1463040"/>
          </a:xfrm>
          <a:prstGeom prst="rect">
            <a:avLst/>
          </a:prstGeom>
          <a:noFill/>
          <a:ln/>
        </p:spPr>
        <p:txBody>
          <a:bodyPr wrap="square" lIns="0" tIns="0" rIns="0" bIns="0" rtlCol="0" anchor="ctr"/>
          <a:lstStyle/>
          <a:p>
            <a:pPr indent="0" marL="0">
              <a:lnSpc>
                <a:spcPct val="118000"/>
              </a:lnSpc>
              <a:buNone/>
            </a:pPr>
            <a:r>
              <a:rPr lang="en-US" sz="1300" dirty="0">
                <a:solidFill>
                  <a:srgbClr val="94A3B8"/>
                </a:solidFill>
                <a:latin typeface="Calibri" pitchFamily="34" charset="0"/>
                <a:ea typeface="Calibri" pitchFamily="34" charset="-122"/>
                <a:cs typeface="Calibri" pitchFamily="34" charset="-120"/>
              </a:rPr>
              <a:t>Volatility 3, MFTECmd, EvtxECmd, PECmd, RECmd, AmcacheParser, YARA, Plaso — each a typed wrapper that inherits the exact same read-only guarantees as the native layer.</a:t>
            </a:r>
            <a:endParaRPr lang="en-US" sz="1300" dirty="0"/>
          </a:p>
        </p:txBody>
      </p:sp>
      <p:sp>
        <p:nvSpPr>
          <p:cNvPr id="12" name="Text 10"/>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13" name="Text 11"/>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07 / 13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FBBF24"/>
                </a:solidFill>
                <a:latin typeface="Calibri" pitchFamily="34" charset="0"/>
                <a:ea typeface="Calibri" pitchFamily="34" charset="-122"/>
                <a:cs typeface="Calibri" pitchFamily="34" charset="-120"/>
              </a:rPr>
              <a:t>MEASURED — NOT CLAIMED</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Honest accuracy: strong on our logic, lower on what we're still building</a:t>
            </a:r>
            <a:endParaRPr lang="en-US" sz="3100" dirty="0"/>
          </a:p>
        </p:txBody>
      </p:sp>
      <p:sp>
        <p:nvSpPr>
          <p:cNvPr id="4" name="Shape 2"/>
          <p:cNvSpPr/>
          <p:nvPr/>
        </p:nvSpPr>
        <p:spPr>
          <a:xfrm>
            <a:off x="548640" y="1828800"/>
            <a:ext cx="7315200" cy="4160520"/>
          </a:xfrm>
          <a:prstGeom prst="roundRect">
            <a:avLst>
              <a:gd name="adj" fmla="val 1978"/>
            </a:avLst>
          </a:prstGeom>
          <a:solidFill>
            <a:srgbClr val="1E293B"/>
          </a:solidFill>
          <a:ln w="12700">
            <a:solidFill>
              <a:srgbClr val="334155"/>
            </a:solidFill>
            <a:prstDash val="solid"/>
          </a:ln>
          <a:effectLst>
            <a:outerShdw sx="100000" sy="100000" kx="0" ky="0" algn="bl" rotWithShape="0" blurRad="101600" dist="38100" dir="5400000">
              <a:srgbClr val="000000">
                <a:alpha val="28000"/>
              </a:srgbClr>
            </a:outerShdw>
          </a:effectLst>
        </p:spPr>
      </p:sp>
      <p:graphicFrame>
        <p:nvGraphicFramePr>
          <p:cNvPr id="5" name="Chart 0" descr=""/>
          <p:cNvGraphicFramePr/>
          <p:nvPr/>
        </p:nvGraphicFramePr>
        <p:xfrm>
          <a:off x="777240" y="2057400"/>
          <a:ext cx="6858000" cy="37033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46720" y="1828800"/>
            <a:ext cx="3566160" cy="4160520"/>
          </a:xfrm>
          <a:prstGeom prst="roundRect">
            <a:avLst>
              <a:gd name="adj" fmla="val 2308"/>
            </a:avLst>
          </a:prstGeom>
          <a:solidFill>
            <a:srgbClr val="172033"/>
          </a:solidFill>
          <a:ln w="12700">
            <a:solidFill>
              <a:srgbClr val="334155"/>
            </a:solidFill>
            <a:prstDash val="solid"/>
          </a:ln>
          <a:effectLst>
            <a:outerShdw sx="100000" sy="100000" kx="0" ky="0" algn="bl" rotWithShape="0" blurRad="101600" dist="38100" dir="5400000">
              <a:srgbClr val="000000">
                <a:alpha val="28000"/>
              </a:srgbClr>
            </a:outerShdw>
          </a:effectLst>
        </p:spPr>
      </p:sp>
      <p:sp>
        <p:nvSpPr>
          <p:cNvPr id="7" name="Text 4"/>
          <p:cNvSpPr/>
          <p:nvPr/>
        </p:nvSpPr>
        <p:spPr>
          <a:xfrm>
            <a:off x="8275320" y="2057400"/>
            <a:ext cx="3108960" cy="411480"/>
          </a:xfrm>
          <a:prstGeom prst="rect">
            <a:avLst/>
          </a:prstGeom>
          <a:noFill/>
          <a:ln/>
        </p:spPr>
        <p:txBody>
          <a:bodyPr wrap="square" lIns="0" tIns="0" rIns="0" bIns="0" rtlCol="0" anchor="ctr"/>
          <a:lstStyle/>
          <a:p>
            <a:pPr indent="0" marL="0">
              <a:buNone/>
            </a:pPr>
            <a:r>
              <a:rPr lang="en-US" sz="1400" b="1" dirty="0">
                <a:solidFill>
                  <a:srgbClr val="FBBF24"/>
                </a:solidFill>
                <a:latin typeface="Calibri" pitchFamily="34" charset="0"/>
                <a:ea typeface="Calibri" pitchFamily="34" charset="-122"/>
                <a:cs typeface="Calibri" pitchFamily="34" charset="-120"/>
              </a:rPr>
              <a:t>Read this honestly</a:t>
            </a:r>
            <a:endParaRPr lang="en-US" sz="1400" dirty="0"/>
          </a:p>
        </p:txBody>
      </p:sp>
      <p:sp>
        <p:nvSpPr>
          <p:cNvPr id="8" name="Text 5"/>
          <p:cNvSpPr/>
          <p:nvPr/>
        </p:nvSpPr>
        <p:spPr>
          <a:xfrm>
            <a:off x="8275320" y="2514600"/>
            <a:ext cx="3108960" cy="1005840"/>
          </a:xfrm>
          <a:prstGeom prst="rect">
            <a:avLst/>
          </a:prstGeom>
          <a:noFill/>
          <a:ln/>
        </p:spPr>
        <p:txBody>
          <a:bodyPr wrap="square" lIns="0" tIns="0" rIns="0" bIns="0" rtlCol="0" anchor="ctr"/>
          <a:lstStyle/>
          <a:p>
            <a:pPr indent="0" marL="0">
              <a:lnSpc>
                <a:spcPct val="112000"/>
              </a:lnSpc>
              <a:buNone/>
            </a:pPr>
            <a:r>
              <a:rPr lang="en-US" sz="1350" b="1" dirty="0">
                <a:solidFill>
                  <a:srgbClr val="34D399"/>
                </a:solidFill>
                <a:latin typeface="Calibri" pitchFamily="34" charset="0"/>
                <a:ea typeface="Calibri" pitchFamily="34" charset="-122"/>
                <a:cs typeface="Calibri" pitchFamily="34" charset="-120"/>
              </a:rPr>
              <a:t>Hallucination: 0</a:t>
            </a:r>
            <a:endParaRPr lang="en-US" sz="1350" dirty="0"/>
          </a:p>
          <a:p>
            <a:pPr indent="0" marL="0">
              <a:lnSpc>
                <a:spcPct val="112000"/>
              </a:lnSpc>
              <a:buNone/>
            </a:pPr>
            <a:r>
              <a:rPr lang="en-US" sz="1150" dirty="0">
                <a:solidFill>
                  <a:srgbClr val="94A3B8"/>
                </a:solidFill>
                <a:latin typeface="Calibri" pitchFamily="34" charset="0"/>
                <a:ea typeface="Calibri" pitchFamily="34" charset="-122"/>
                <a:cs typeface="Calibri" pitchFamily="34" charset="-120"/>
              </a:rPr>
              <a:t>every finding traces to a tool call; low recall is missed coverage, never invention</a:t>
            </a:r>
            <a:endParaRPr lang="en-US" sz="1350" dirty="0"/>
          </a:p>
        </p:txBody>
      </p:sp>
      <p:sp>
        <p:nvSpPr>
          <p:cNvPr id="9" name="Text 6"/>
          <p:cNvSpPr/>
          <p:nvPr/>
        </p:nvSpPr>
        <p:spPr>
          <a:xfrm>
            <a:off x="8275320" y="3657600"/>
            <a:ext cx="3108960" cy="1463040"/>
          </a:xfrm>
          <a:prstGeom prst="rect">
            <a:avLst/>
          </a:prstGeom>
          <a:noFill/>
          <a:ln/>
        </p:spPr>
        <p:txBody>
          <a:bodyPr wrap="square" lIns="0" tIns="0" rIns="0" bIns="0" rtlCol="0" anchor="ctr"/>
          <a:lstStyle/>
          <a:p>
            <a:pPr indent="0" marL="0">
              <a:lnSpc>
                <a:spcPct val="112000"/>
              </a:lnSpc>
              <a:buNone/>
            </a:pPr>
            <a:r>
              <a:rPr lang="en-US" sz="1350" b="1" dirty="0">
                <a:solidFill>
                  <a:srgbClr val="E2E8F0"/>
                </a:solidFill>
                <a:latin typeface="Calibri" pitchFamily="34" charset="0"/>
                <a:ea typeface="Calibri" pitchFamily="34" charset="-122"/>
                <a:cs typeface="Calibri" pitchFamily="34" charset="-120"/>
              </a:rPr>
              <a:t>External &lt; self is not a regression</a:t>
            </a:r>
            <a:endParaRPr lang="en-US" sz="1350" dirty="0"/>
          </a:p>
          <a:p>
            <a:pPr indent="0" marL="0">
              <a:lnSpc>
                <a:spcPct val="112000"/>
              </a:lnSpc>
              <a:buNone/>
            </a:pPr>
            <a:r>
              <a:rPr lang="en-US" sz="1150" dirty="0">
                <a:solidFill>
                  <a:srgbClr val="94A3B8"/>
                </a:solidFill>
                <a:latin typeface="Calibri" pitchFamily="34" charset="0"/>
                <a:ea typeface="Calibri" pitchFamily="34" charset="-122"/>
                <a:cs typeface="Calibri" pitchFamily="34" charset="-120"/>
              </a:rPr>
              <a:t>it's a paradigm gap we disclose — content-centric parsing is Phase 2, and external data tells us what to ship next</a:t>
            </a:r>
            <a:endParaRPr lang="en-US" sz="1350" dirty="0"/>
          </a:p>
        </p:txBody>
      </p:sp>
      <p:sp>
        <p:nvSpPr>
          <p:cNvPr id="10" name="Text 7"/>
          <p:cNvSpPr/>
          <p:nvPr/>
        </p:nvSpPr>
        <p:spPr>
          <a:xfrm>
            <a:off x="8275320" y="5440680"/>
            <a:ext cx="3108960" cy="457200"/>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Live numbers: docs/benchmarks/ — regenerated from runs, not transcribed</a:t>
            </a:r>
            <a:endParaRPr lang="en-US" sz="1050" dirty="0"/>
          </a:p>
        </p:txBody>
      </p:sp>
      <p:sp>
        <p:nvSpPr>
          <p:cNvPr id="11" name="Text 8"/>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12" name="Text 9"/>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08 / 13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34D399"/>
                </a:solidFill>
                <a:latin typeface="Calibri" pitchFamily="34" charset="0"/>
                <a:ea typeface="Calibri" pitchFamily="34" charset="-122"/>
                <a:cs typeface="Calibri" pitchFamily="34" charset="-120"/>
              </a:rPr>
              <a:t>FORENSICALLY SOUND</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Chain of custody, sealed end to end</a:t>
            </a:r>
            <a:endParaRPr lang="en-US" sz="3100" dirty="0"/>
          </a:p>
        </p:txBody>
      </p:sp>
      <p:sp>
        <p:nvSpPr>
          <p:cNvPr id="4" name="Shape 2"/>
          <p:cNvSpPr/>
          <p:nvPr/>
        </p:nvSpPr>
        <p:spPr>
          <a:xfrm>
            <a:off x="548640" y="1920240"/>
            <a:ext cx="5349240" cy="1874520"/>
          </a:xfrm>
          <a:prstGeom prst="roundRect">
            <a:avLst>
              <a:gd name="adj" fmla="val 4390"/>
            </a:avLst>
          </a:prstGeom>
          <a:solidFill>
            <a:srgbClr val="1E293B"/>
          </a:solidFill>
          <a:ln w="12700">
            <a:solidFill>
              <a:srgbClr val="34D399"/>
            </a:solidFill>
            <a:prstDash val="solid"/>
          </a:ln>
          <a:effectLst>
            <a:outerShdw sx="100000" sy="100000" kx="0" ky="0" algn="bl" rotWithShape="0" blurRad="101600" dist="38100" dir="5400000">
              <a:srgbClr val="000000">
                <a:alpha val="28000"/>
              </a:srgbClr>
            </a:outerShdw>
          </a:effectLst>
        </p:spPr>
      </p:sp>
      <p:sp>
        <p:nvSpPr>
          <p:cNvPr id="5" name="Text 3"/>
          <p:cNvSpPr/>
          <p:nvPr/>
        </p:nvSpPr>
        <p:spPr>
          <a:xfrm>
            <a:off x="822960" y="2148840"/>
            <a:ext cx="4754880" cy="457200"/>
          </a:xfrm>
          <a:prstGeom prst="rect">
            <a:avLst/>
          </a:prstGeom>
          <a:noFill/>
          <a:ln/>
        </p:spPr>
        <p:txBody>
          <a:bodyPr wrap="square" lIns="0" tIns="0" rIns="0" bIns="0" rtlCol="0" anchor="ctr"/>
          <a:lstStyle/>
          <a:p>
            <a:pPr indent="0" marL="0">
              <a:buNone/>
            </a:pPr>
            <a:r>
              <a:rPr lang="en-US" sz="1600" b="1" dirty="0">
                <a:solidFill>
                  <a:srgbClr val="34D399"/>
                </a:solidFill>
                <a:latin typeface="Calibri" pitchFamily="34" charset="0"/>
                <a:ea typeface="Calibri" pitchFamily="34" charset="-122"/>
                <a:cs typeface="Calibri" pitchFamily="34" charset="-120"/>
              </a:rPr>
              <a:t>SHA-256 pre / post</a:t>
            </a:r>
            <a:endParaRPr lang="en-US" sz="1600" dirty="0"/>
          </a:p>
        </p:txBody>
      </p:sp>
      <p:sp>
        <p:nvSpPr>
          <p:cNvPr id="6" name="Text 4"/>
          <p:cNvSpPr/>
          <p:nvPr/>
        </p:nvSpPr>
        <p:spPr>
          <a:xfrm>
            <a:off x="822960" y="2670048"/>
            <a:ext cx="4800600" cy="960120"/>
          </a:xfrm>
          <a:prstGeom prst="rect">
            <a:avLst/>
          </a:prstGeom>
          <a:noFill/>
          <a:ln/>
        </p:spPr>
        <p:txBody>
          <a:bodyPr wrap="square" lIns="0" tIns="0" rIns="0" bIns="0" rtlCol="0" anchor="ctr"/>
          <a:lstStyle/>
          <a:p>
            <a:pPr indent="0" marL="0">
              <a:lnSpc>
                <a:spcPct val="116000"/>
              </a:lnSpc>
              <a:buNone/>
            </a:pPr>
            <a:r>
              <a:rPr lang="en-US" sz="1300" dirty="0">
                <a:solidFill>
                  <a:srgbClr val="94A3B8"/>
                </a:solidFill>
                <a:latin typeface="Calibri" pitchFamily="34" charset="0"/>
                <a:ea typeface="Calibri" pitchFamily="34" charset="-122"/>
                <a:cs typeface="Calibri" pitchFamily="34" charset="-120"/>
              </a:rPr>
              <a:t>every input file hashed before and after the run; integrity verified, not assumed</a:t>
            </a:r>
            <a:endParaRPr lang="en-US" sz="1300" dirty="0"/>
          </a:p>
        </p:txBody>
      </p:sp>
      <p:sp>
        <p:nvSpPr>
          <p:cNvPr id="7" name="Shape 5"/>
          <p:cNvSpPr/>
          <p:nvPr/>
        </p:nvSpPr>
        <p:spPr>
          <a:xfrm>
            <a:off x="6126480" y="1920240"/>
            <a:ext cx="5349240" cy="1874520"/>
          </a:xfrm>
          <a:prstGeom prst="roundRect">
            <a:avLst>
              <a:gd name="adj" fmla="val 4390"/>
            </a:avLst>
          </a:prstGeom>
          <a:solidFill>
            <a:srgbClr val="1E293B"/>
          </a:solidFill>
          <a:ln w="12700">
            <a:solidFill>
              <a:srgbClr val="38BDF8"/>
            </a:solidFill>
            <a:prstDash val="solid"/>
          </a:ln>
          <a:effectLst>
            <a:outerShdw sx="100000" sy="100000" kx="0" ky="0" algn="bl" rotWithShape="0" blurRad="101600" dist="38100" dir="5400000">
              <a:srgbClr val="000000">
                <a:alpha val="28000"/>
              </a:srgbClr>
            </a:outerShdw>
          </a:effectLst>
        </p:spPr>
      </p:sp>
      <p:sp>
        <p:nvSpPr>
          <p:cNvPr id="8" name="Text 6"/>
          <p:cNvSpPr/>
          <p:nvPr/>
        </p:nvSpPr>
        <p:spPr>
          <a:xfrm>
            <a:off x="6400800" y="2148840"/>
            <a:ext cx="4754880" cy="457200"/>
          </a:xfrm>
          <a:prstGeom prst="rect">
            <a:avLst/>
          </a:prstGeom>
          <a:noFill/>
          <a:ln/>
        </p:spPr>
        <p:txBody>
          <a:bodyPr wrap="square" lIns="0" tIns="0" rIns="0" bIns="0" rtlCol="0" anchor="ctr"/>
          <a:lstStyle/>
          <a:p>
            <a:pPr indent="0" marL="0">
              <a:buNone/>
            </a:pPr>
            <a:r>
              <a:rPr lang="en-US" sz="1600" b="1" dirty="0">
                <a:solidFill>
                  <a:srgbClr val="38BDF8"/>
                </a:solidFill>
                <a:latin typeface="Calibri" pitchFamily="34" charset="0"/>
                <a:ea typeface="Calibri" pitchFamily="34" charset="-122"/>
                <a:cs typeface="Calibri" pitchFamily="34" charset="-120"/>
              </a:rPr>
              <a:t>Hash-linked audit chain</a:t>
            </a:r>
            <a:endParaRPr lang="en-US" sz="1600" dirty="0"/>
          </a:p>
        </p:txBody>
      </p:sp>
      <p:sp>
        <p:nvSpPr>
          <p:cNvPr id="9" name="Text 7"/>
          <p:cNvSpPr/>
          <p:nvPr/>
        </p:nvSpPr>
        <p:spPr>
          <a:xfrm>
            <a:off x="6400800" y="2670048"/>
            <a:ext cx="4800600" cy="960120"/>
          </a:xfrm>
          <a:prstGeom prst="rect">
            <a:avLst/>
          </a:prstGeom>
          <a:noFill/>
          <a:ln/>
        </p:spPr>
        <p:txBody>
          <a:bodyPr wrap="square" lIns="0" tIns="0" rIns="0" bIns="0" rtlCol="0" anchor="ctr"/>
          <a:lstStyle/>
          <a:p>
            <a:pPr indent="0" marL="0">
              <a:lnSpc>
                <a:spcPct val="116000"/>
              </a:lnSpc>
              <a:buNone/>
            </a:pPr>
            <a:r>
              <a:rPr lang="en-US" sz="1300" dirty="0">
                <a:solidFill>
                  <a:srgbClr val="94A3B8"/>
                </a:solidFill>
                <a:latin typeface="Calibri" pitchFamily="34" charset="0"/>
                <a:ea typeface="Calibri" pitchFamily="34" charset="-122"/>
                <a:cs typeface="Calibri" pitchFamily="34" charset="-120"/>
              </a:rPr>
              <a:t>each tool call sealed with prev_hash → entry_hash; an unbroken, replayable chain</a:t>
            </a:r>
            <a:endParaRPr lang="en-US" sz="1300" dirty="0"/>
          </a:p>
        </p:txBody>
      </p:sp>
      <p:sp>
        <p:nvSpPr>
          <p:cNvPr id="10" name="Shape 8"/>
          <p:cNvSpPr/>
          <p:nvPr/>
        </p:nvSpPr>
        <p:spPr>
          <a:xfrm>
            <a:off x="548640" y="4023360"/>
            <a:ext cx="5349240" cy="1874520"/>
          </a:xfrm>
          <a:prstGeom prst="roundRect">
            <a:avLst>
              <a:gd name="adj" fmla="val 4390"/>
            </a:avLst>
          </a:prstGeom>
          <a:solidFill>
            <a:srgbClr val="1E293B"/>
          </a:solidFill>
          <a:ln w="12700">
            <a:solidFill>
              <a:srgbClr val="A78BFA"/>
            </a:solidFill>
            <a:prstDash val="solid"/>
          </a:ln>
          <a:effectLst>
            <a:outerShdw sx="100000" sy="100000" kx="0" ky="0" algn="bl" rotWithShape="0" blurRad="101600" dist="38100" dir="5400000">
              <a:srgbClr val="000000">
                <a:alpha val="28000"/>
              </a:srgbClr>
            </a:outerShdw>
          </a:effectLst>
        </p:spPr>
      </p:sp>
      <p:sp>
        <p:nvSpPr>
          <p:cNvPr id="11" name="Text 9"/>
          <p:cNvSpPr/>
          <p:nvPr/>
        </p:nvSpPr>
        <p:spPr>
          <a:xfrm>
            <a:off x="822960" y="4251960"/>
            <a:ext cx="4754880" cy="457200"/>
          </a:xfrm>
          <a:prstGeom prst="rect">
            <a:avLst/>
          </a:prstGeom>
          <a:noFill/>
          <a:ln/>
        </p:spPr>
        <p:txBody>
          <a:bodyPr wrap="square" lIns="0" tIns="0" rIns="0" bIns="0" rtlCol="0" anchor="ctr"/>
          <a:lstStyle/>
          <a:p>
            <a:pPr indent="0" marL="0">
              <a:buNone/>
            </a:pPr>
            <a:r>
              <a:rPr lang="en-US" sz="1600" b="1" dirty="0">
                <a:solidFill>
                  <a:srgbClr val="A78BFA"/>
                </a:solidFill>
                <a:latin typeface="Calibri" pitchFamily="34" charset="0"/>
                <a:ea typeface="Calibri" pitchFamily="34" charset="-122"/>
                <a:cs typeface="Calibri" pitchFamily="34" charset="-120"/>
              </a:rPr>
              <a:t>audit_id on every finding</a:t>
            </a:r>
            <a:endParaRPr lang="en-US" sz="1600" dirty="0"/>
          </a:p>
        </p:txBody>
      </p:sp>
      <p:sp>
        <p:nvSpPr>
          <p:cNvPr id="12" name="Text 10"/>
          <p:cNvSpPr/>
          <p:nvPr/>
        </p:nvSpPr>
        <p:spPr>
          <a:xfrm>
            <a:off x="822960" y="4773168"/>
            <a:ext cx="4800600" cy="960120"/>
          </a:xfrm>
          <a:prstGeom prst="rect">
            <a:avLst/>
          </a:prstGeom>
          <a:noFill/>
          <a:ln/>
        </p:spPr>
        <p:txBody>
          <a:bodyPr wrap="square" lIns="0" tIns="0" rIns="0" bIns="0" rtlCol="0" anchor="ctr"/>
          <a:lstStyle/>
          <a:p>
            <a:pPr indent="0" marL="0">
              <a:lnSpc>
                <a:spcPct val="116000"/>
              </a:lnSpc>
              <a:buNone/>
            </a:pPr>
            <a:r>
              <a:rPr lang="en-US" sz="1300" dirty="0">
                <a:solidFill>
                  <a:srgbClr val="94A3B8"/>
                </a:solidFill>
                <a:latin typeface="Calibri" pitchFamily="34" charset="0"/>
                <a:ea typeface="Calibri" pitchFamily="34" charset="-122"/>
                <a:cs typeface="Calibri" pitchFamily="34" charset="-120"/>
              </a:rPr>
              <a:t>confirmed vs unresolved vs false_positive is a typed field, not prose</a:t>
            </a:r>
            <a:endParaRPr lang="en-US" sz="1300" dirty="0"/>
          </a:p>
        </p:txBody>
      </p:sp>
      <p:sp>
        <p:nvSpPr>
          <p:cNvPr id="13" name="Shape 11"/>
          <p:cNvSpPr/>
          <p:nvPr/>
        </p:nvSpPr>
        <p:spPr>
          <a:xfrm>
            <a:off x="6126480" y="4023360"/>
            <a:ext cx="5349240" cy="1874520"/>
          </a:xfrm>
          <a:prstGeom prst="roundRect">
            <a:avLst>
              <a:gd name="adj" fmla="val 4390"/>
            </a:avLst>
          </a:prstGeom>
          <a:solidFill>
            <a:srgbClr val="1E293B"/>
          </a:solidFill>
          <a:ln w="12700">
            <a:solidFill>
              <a:srgbClr val="FBBF24"/>
            </a:solidFill>
            <a:prstDash val="solid"/>
          </a:ln>
          <a:effectLst>
            <a:outerShdw sx="100000" sy="100000" kx="0" ky="0" algn="bl" rotWithShape="0" blurRad="101600" dist="38100" dir="5400000">
              <a:srgbClr val="000000">
                <a:alpha val="28000"/>
              </a:srgbClr>
            </a:outerShdw>
          </a:effectLst>
        </p:spPr>
      </p:sp>
      <p:sp>
        <p:nvSpPr>
          <p:cNvPr id="14" name="Text 12"/>
          <p:cNvSpPr/>
          <p:nvPr/>
        </p:nvSpPr>
        <p:spPr>
          <a:xfrm>
            <a:off x="6400800" y="4251960"/>
            <a:ext cx="4754880" cy="457200"/>
          </a:xfrm>
          <a:prstGeom prst="rect">
            <a:avLst/>
          </a:prstGeom>
          <a:noFill/>
          <a:ln/>
        </p:spPr>
        <p:txBody>
          <a:bodyPr wrap="square" lIns="0" tIns="0" rIns="0" bIns="0" rtlCol="0" anchor="ctr"/>
          <a:lstStyle/>
          <a:p>
            <a:pPr indent="0" marL="0">
              <a:buNone/>
            </a:pPr>
            <a:r>
              <a:rPr lang="en-US" sz="1600" b="1" dirty="0">
                <a:solidFill>
                  <a:srgbClr val="FBBF24"/>
                </a:solidFill>
                <a:latin typeface="Calibri" pitchFamily="34" charset="0"/>
                <a:ea typeface="Calibri" pitchFamily="34" charset="-122"/>
                <a:cs typeface="Calibri" pitchFamily="34" charset="-120"/>
              </a:rPr>
              <a:t>Anti-spoliation test</a:t>
            </a:r>
            <a:endParaRPr lang="en-US" sz="1600" dirty="0"/>
          </a:p>
        </p:txBody>
      </p:sp>
      <p:sp>
        <p:nvSpPr>
          <p:cNvPr id="15" name="Text 13"/>
          <p:cNvSpPr/>
          <p:nvPr/>
        </p:nvSpPr>
        <p:spPr>
          <a:xfrm>
            <a:off x="6400800" y="4773168"/>
            <a:ext cx="4800600" cy="960120"/>
          </a:xfrm>
          <a:prstGeom prst="rect">
            <a:avLst/>
          </a:prstGeom>
          <a:noFill/>
          <a:ln/>
        </p:spPr>
        <p:txBody>
          <a:bodyPr wrap="square" lIns="0" tIns="0" rIns="0" bIns="0" rtlCol="0" anchor="ctr"/>
          <a:lstStyle/>
          <a:p>
            <a:pPr indent="0" marL="0">
              <a:lnSpc>
                <a:spcPct val="116000"/>
              </a:lnSpc>
              <a:buNone/>
            </a:pPr>
            <a:r>
              <a:rPr lang="en-US" sz="1300" dirty="0">
                <a:solidFill>
                  <a:srgbClr val="94A3B8"/>
                </a:solidFill>
                <a:latin typeface="Calibri" pitchFamily="34" charset="0"/>
                <a:ea typeface="Calibri" pitchFamily="34" charset="-122"/>
                <a:cs typeface="Calibri" pitchFamily="34" charset="-120"/>
              </a:rPr>
              <a:t>asserts no input is mutated and any write outside the evidence root resolves to zero</a:t>
            </a:r>
            <a:endParaRPr lang="en-US" sz="1300" dirty="0"/>
          </a:p>
        </p:txBody>
      </p:sp>
      <p:sp>
        <p:nvSpPr>
          <p:cNvPr id="16" name="Text 14"/>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17" name="Text 15"/>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09 / 13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A78BFA"/>
                </a:solidFill>
                <a:latin typeface="Calibri" pitchFamily="34" charset="0"/>
                <a:ea typeface="Calibri" pitchFamily="34" charset="-122"/>
                <a:cs typeface="Calibri" pitchFamily="34" charset="-120"/>
              </a:rPr>
              <a:t>THE GRADED BEHAVIOUR</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Self-correction — observable in the logs, not asserted</a:t>
            </a:r>
            <a:endParaRPr lang="en-US" sz="3100" dirty="0"/>
          </a:p>
        </p:txBody>
      </p:sp>
      <p:sp>
        <p:nvSpPr>
          <p:cNvPr id="4" name="Shape 2"/>
          <p:cNvSpPr/>
          <p:nvPr/>
        </p:nvSpPr>
        <p:spPr>
          <a:xfrm>
            <a:off x="548640" y="1783080"/>
            <a:ext cx="5852160" cy="4297680"/>
          </a:xfrm>
          <a:prstGeom prst="roundRect">
            <a:avLst>
              <a:gd name="adj" fmla="val 1915"/>
            </a:avLst>
          </a:prstGeom>
          <a:solidFill>
            <a:srgbClr val="1E293B"/>
          </a:solidFill>
          <a:ln w="12700">
            <a:solidFill>
              <a:srgbClr val="334155"/>
            </a:solidFill>
            <a:prstDash val="solid"/>
          </a:ln>
          <a:effectLst>
            <a:outerShdw sx="100000" sy="100000" kx="0" ky="0" algn="bl" rotWithShape="0" blurRad="101600" dist="38100" dir="5400000">
              <a:srgbClr val="000000">
                <a:alpha val="28000"/>
              </a:srgbClr>
            </a:outerShdw>
          </a:effectLst>
        </p:spPr>
      </p:sp>
      <p:pic>
        <p:nvPicPr>
          <p:cNvPr id="5" name="Image 0" descr="/home/claude/work/agentic-dart/docs/screenshots/dart-run-03-contradiction.png">    </p:cNvPr>
          <p:cNvPicPr>
            <a:picLocks noChangeAspect="1"/>
          </p:cNvPicPr>
          <p:nvPr/>
        </p:nvPicPr>
        <p:blipFill>
          <a:blip r:embed="rId1"/>
          <a:srcRect l="0" r="0" t="0" b="0"/>
          <a:stretch/>
        </p:blipFill>
        <p:spPr>
          <a:xfrm>
            <a:off x="731520" y="1965960"/>
            <a:ext cx="5486400" cy="3931920"/>
          </a:xfrm>
          <a:prstGeom prst="rect">
            <a:avLst/>
          </a:prstGeom>
        </p:spPr>
      </p:pic>
      <p:sp>
        <p:nvSpPr>
          <p:cNvPr id="6" name="Shape 3"/>
          <p:cNvSpPr/>
          <p:nvPr/>
        </p:nvSpPr>
        <p:spPr>
          <a:xfrm>
            <a:off x="6583680" y="1783080"/>
            <a:ext cx="5029200" cy="4297680"/>
          </a:xfrm>
          <a:prstGeom prst="roundRect">
            <a:avLst>
              <a:gd name="adj" fmla="val 1915"/>
            </a:avLst>
          </a:prstGeom>
          <a:solidFill>
            <a:srgbClr val="172033"/>
          </a:solidFill>
          <a:ln w="12700">
            <a:solidFill>
              <a:srgbClr val="334155"/>
            </a:solidFill>
            <a:prstDash val="solid"/>
          </a:ln>
          <a:effectLst>
            <a:outerShdw sx="100000" sy="100000" kx="0" ky="0" algn="bl" rotWithShape="0" blurRad="101600" dist="38100" dir="5400000">
              <a:srgbClr val="000000">
                <a:alpha val="28000"/>
              </a:srgbClr>
            </a:outerShdw>
          </a:effectLst>
        </p:spPr>
      </p:sp>
      <p:sp>
        <p:nvSpPr>
          <p:cNvPr id="7" name="Text 4"/>
          <p:cNvSpPr/>
          <p:nvPr/>
        </p:nvSpPr>
        <p:spPr>
          <a:xfrm>
            <a:off x="6858000" y="2011680"/>
            <a:ext cx="4480560" cy="411480"/>
          </a:xfrm>
          <a:prstGeom prst="rect">
            <a:avLst/>
          </a:prstGeom>
          <a:noFill/>
          <a:ln/>
        </p:spPr>
        <p:txBody>
          <a:bodyPr wrap="square" lIns="0" tIns="0" rIns="0" bIns="0" rtlCol="0" anchor="ctr"/>
          <a:lstStyle/>
          <a:p>
            <a:pPr indent="0" marL="0">
              <a:buNone/>
            </a:pPr>
            <a:r>
              <a:rPr lang="en-US" sz="1400" b="1" dirty="0">
                <a:solidFill>
                  <a:srgbClr val="A78BFA"/>
                </a:solidFill>
                <a:latin typeface="Calibri" pitchFamily="34" charset="0"/>
                <a:ea typeface="Calibri" pitchFamily="34" charset="-122"/>
                <a:cs typeface="Calibri" pitchFamily="34" charset="-120"/>
              </a:rPr>
              <a:t>Two kinds, both in the logs</a:t>
            </a:r>
            <a:endParaRPr lang="en-US" sz="1400" dirty="0"/>
          </a:p>
        </p:txBody>
      </p:sp>
      <p:sp>
        <p:nvSpPr>
          <p:cNvPr id="8" name="Text 5"/>
          <p:cNvSpPr/>
          <p:nvPr/>
        </p:nvSpPr>
        <p:spPr>
          <a:xfrm>
            <a:off x="6858000" y="2514600"/>
            <a:ext cx="4480560" cy="1828800"/>
          </a:xfrm>
          <a:prstGeom prst="rect">
            <a:avLst/>
          </a:prstGeom>
          <a:noFill/>
          <a:ln/>
        </p:spPr>
        <p:txBody>
          <a:bodyPr wrap="square" lIns="0" tIns="0" rIns="0" bIns="0" rtlCol="0" anchor="ctr"/>
          <a:lstStyle/>
          <a:p>
            <a:pPr indent="0" marL="0">
              <a:lnSpc>
                <a:spcPct val="116000"/>
              </a:lnSpc>
              <a:buNone/>
            </a:pPr>
            <a:r>
              <a:rPr lang="en-US" sz="1350" b="1" dirty="0">
                <a:solidFill>
                  <a:srgbClr val="E2E8F0"/>
                </a:solidFill>
                <a:latin typeface="Calibri" pitchFamily="34" charset="0"/>
                <a:ea typeface="Calibri" pitchFamily="34" charset="-122"/>
                <a:cs typeface="Calibri" pitchFamily="34" charset="-120"/>
              </a:rPr>
              <a:t>Hypothesis revision (live)</a:t>
            </a:r>
            <a:endParaRPr lang="en-US" sz="1350" dirty="0"/>
          </a:p>
          <a:p>
            <a:pPr indent="0" marL="0">
              <a:lnSpc>
                <a:spcPct val="116000"/>
              </a:lnSpc>
              <a:buNone/>
            </a:pPr>
            <a:r>
              <a:rPr lang="en-US" sz="1200" dirty="0">
                <a:solidFill>
                  <a:srgbClr val="94A3B8"/>
                </a:solidFill>
                <a:latin typeface="Calibri" pitchFamily="34" charset="0"/>
                <a:ea typeface="Calibri" pitchFamily="34" charset="-122"/>
                <a:cs typeface="Calibri" pitchFamily="34" charset="-120"/>
              </a:rPr>
              <a:t>the agent raises explicit contradictions — after-hours logon vs daytime window, public-key SSH vs claimed password — and revises its chain instead of forcing the first theory. In another run it retracts a false 'attacker-created account' once the profile registry proves otherwise.</a:t>
            </a:r>
            <a:endParaRPr lang="en-US" sz="1350" dirty="0"/>
          </a:p>
        </p:txBody>
      </p:sp>
      <p:sp>
        <p:nvSpPr>
          <p:cNvPr id="9" name="Text 6"/>
          <p:cNvSpPr/>
          <p:nvPr/>
        </p:nvSpPr>
        <p:spPr>
          <a:xfrm>
            <a:off x="6858000" y="4434840"/>
            <a:ext cx="4480560" cy="1554480"/>
          </a:xfrm>
          <a:prstGeom prst="rect">
            <a:avLst/>
          </a:prstGeom>
          <a:noFill/>
          <a:ln/>
        </p:spPr>
        <p:txBody>
          <a:bodyPr wrap="square" lIns="0" tIns="0" rIns="0" bIns="0" rtlCol="0" anchor="ctr"/>
          <a:lstStyle/>
          <a:p>
            <a:pPr indent="0" marL="0">
              <a:lnSpc>
                <a:spcPct val="116000"/>
              </a:lnSpc>
              <a:buNone/>
            </a:pPr>
            <a:r>
              <a:rPr lang="en-US" sz="1350" b="1" dirty="0">
                <a:solidFill>
                  <a:srgbClr val="E2E8F0"/>
                </a:solidFill>
                <a:latin typeface="Calibri" pitchFamily="34" charset="0"/>
                <a:ea typeface="Calibri" pitchFamily="34" charset="-122"/>
                <a:cs typeface="Calibri" pitchFamily="34" charset="-120"/>
              </a:rPr>
              <a:t>Parameter-adjusted re-run (reproducible)</a:t>
            </a:r>
            <a:endParaRPr lang="en-US" sz="1350" dirty="0"/>
          </a:p>
          <a:p>
            <a:pPr indent="0" marL="0">
              <a:lnSpc>
                <a:spcPct val="116000"/>
              </a:lnSpc>
              <a:buNone/>
            </a:pPr>
            <a:r>
              <a:rPr lang="en-US" sz="1200" dirty="0">
                <a:solidFill>
                  <a:srgbClr val="94A3B8"/>
                </a:solidFill>
                <a:latin typeface="Calibri" pitchFamily="34" charset="0"/>
                <a:ea typeface="Calibri" pitchFamily="34" charset="-122"/>
                <a:cs typeface="Calibri" pitchFamily="34" charset="-120"/>
              </a:rPr>
              <a:t>in the committed reference run, analyze_usb_history is called with a default window, the gap is identified, then re-run with an explicit time window — a self-directed second pass judges can reproduce byte-for-byte.</a:t>
            </a:r>
            <a:endParaRPr lang="en-US" sz="1350" dirty="0"/>
          </a:p>
        </p:txBody>
      </p:sp>
      <p:sp>
        <p:nvSpPr>
          <p:cNvPr id="10" name="Text 7"/>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11" name="Text 8"/>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 / 13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FBBF24"/>
                </a:solidFill>
                <a:latin typeface="Calibri" pitchFamily="34" charset="0"/>
                <a:ea typeface="Calibri" pitchFamily="34" charset="-122"/>
                <a:cs typeface="Calibri" pitchFamily="34" charset="-120"/>
              </a:rPr>
              <a:t>WHAT IT TOOK</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The work behind the number</a:t>
            </a:r>
            <a:endParaRPr lang="en-US" sz="3100" dirty="0"/>
          </a:p>
        </p:txBody>
      </p:sp>
      <p:sp>
        <p:nvSpPr>
          <p:cNvPr id="4" name="Text 2"/>
          <p:cNvSpPr/>
          <p:nvPr/>
        </p:nvSpPr>
        <p:spPr>
          <a:xfrm>
            <a:off x="548640" y="1783080"/>
            <a:ext cx="11064240" cy="54864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Accuracy didn't come from a prompt. It came from building the measurement, then chasing what it exposed.</a:t>
            </a:r>
            <a:endParaRPr lang="en-US" sz="1600" dirty="0"/>
          </a:p>
        </p:txBody>
      </p:sp>
      <p:sp>
        <p:nvSpPr>
          <p:cNvPr id="5" name="Shape 3"/>
          <p:cNvSpPr/>
          <p:nvPr/>
        </p:nvSpPr>
        <p:spPr>
          <a:xfrm>
            <a:off x="548640" y="2514600"/>
            <a:ext cx="2606040" cy="3291840"/>
          </a:xfrm>
          <a:prstGeom prst="roundRect">
            <a:avLst>
              <a:gd name="adj" fmla="val 3158"/>
            </a:avLst>
          </a:prstGeom>
          <a:solidFill>
            <a:srgbClr val="1E293B"/>
          </a:solidFill>
          <a:ln w="12700">
            <a:solidFill>
              <a:srgbClr val="38BDF8"/>
            </a:solidFill>
            <a:prstDash val="solid"/>
          </a:ln>
          <a:effectLst>
            <a:outerShdw sx="100000" sy="100000" kx="0" ky="0" algn="bl" rotWithShape="0" blurRad="101600" dist="38100" dir="5400000">
              <a:srgbClr val="000000">
                <a:alpha val="28000"/>
              </a:srgbClr>
            </a:outerShdw>
          </a:effectLst>
        </p:spPr>
      </p:sp>
      <p:sp>
        <p:nvSpPr>
          <p:cNvPr id="6" name="Shape 4"/>
          <p:cNvSpPr/>
          <p:nvPr/>
        </p:nvSpPr>
        <p:spPr>
          <a:xfrm>
            <a:off x="804672" y="2743200"/>
            <a:ext cx="502920" cy="502920"/>
          </a:xfrm>
          <a:prstGeom prst="ellipse">
            <a:avLst/>
          </a:prstGeom>
          <a:solidFill>
            <a:srgbClr val="38BDF8">
              <a:alpha val="20000"/>
            </a:srgbClr>
          </a:solidFill>
          <a:ln w="19050">
            <a:solidFill>
              <a:srgbClr val="38BDF8"/>
            </a:solidFill>
            <a:prstDash val="solid"/>
          </a:ln>
        </p:spPr>
      </p:sp>
      <p:sp>
        <p:nvSpPr>
          <p:cNvPr id="7" name="Text 5"/>
          <p:cNvSpPr/>
          <p:nvPr/>
        </p:nvSpPr>
        <p:spPr>
          <a:xfrm>
            <a:off x="804672" y="2743200"/>
            <a:ext cx="502920" cy="502920"/>
          </a:xfrm>
          <a:prstGeom prst="rect">
            <a:avLst/>
          </a:prstGeom>
          <a:noFill/>
          <a:ln/>
        </p:spPr>
        <p:txBody>
          <a:bodyPr wrap="square" lIns="0" tIns="0" rIns="0" bIns="0" rtlCol="0" anchor="ctr"/>
          <a:lstStyle/>
          <a:p>
            <a:pPr algn="ctr" indent="0" marL="0">
              <a:buNone/>
            </a:pPr>
            <a:r>
              <a:rPr lang="en-US" sz="1900" b="1" dirty="0">
                <a:solidFill>
                  <a:srgbClr val="38BDF8"/>
                </a:solidFill>
                <a:latin typeface="Cambria" pitchFamily="34" charset="0"/>
                <a:ea typeface="Cambria" pitchFamily="34" charset="-122"/>
                <a:cs typeface="Cambria" pitchFamily="34" charset="-120"/>
              </a:rPr>
              <a:t>1</a:t>
            </a:r>
            <a:endParaRPr lang="en-US" sz="1900" dirty="0"/>
          </a:p>
        </p:txBody>
      </p:sp>
      <p:sp>
        <p:nvSpPr>
          <p:cNvPr id="8" name="Text 6"/>
          <p:cNvSpPr/>
          <p:nvPr/>
        </p:nvSpPr>
        <p:spPr>
          <a:xfrm>
            <a:off x="804672" y="3383280"/>
            <a:ext cx="2148840" cy="685800"/>
          </a:xfrm>
          <a:prstGeom prst="rect">
            <a:avLst/>
          </a:prstGeom>
          <a:noFill/>
          <a:ln/>
        </p:spPr>
        <p:txBody>
          <a:bodyPr wrap="square" lIns="0" tIns="0" rIns="0" bIns="0" rtlCol="0" anchor="ctr"/>
          <a:lstStyle/>
          <a:p>
            <a:pPr indent="0" marL="0">
              <a:lnSpc>
                <a:spcPct val="105000"/>
              </a:lnSpc>
              <a:buNone/>
            </a:pPr>
            <a:r>
              <a:rPr lang="en-US" sz="1450" b="1" dirty="0">
                <a:solidFill>
                  <a:srgbClr val="E2E8F0"/>
                </a:solidFill>
                <a:latin typeface="Calibri" pitchFamily="34" charset="0"/>
                <a:ea typeface="Calibri" pitchFamily="34" charset="-122"/>
                <a:cs typeface="Calibri" pitchFamily="34" charset="-120"/>
              </a:rPr>
              <a:t>Built the surface</a:t>
            </a:r>
            <a:endParaRPr lang="en-US" sz="1450" dirty="0"/>
          </a:p>
        </p:txBody>
      </p:sp>
      <p:sp>
        <p:nvSpPr>
          <p:cNvPr id="9" name="Text 7"/>
          <p:cNvSpPr/>
          <p:nvPr/>
        </p:nvSpPr>
        <p:spPr>
          <a:xfrm>
            <a:off x="804672" y="4114800"/>
            <a:ext cx="2148840" cy="1600200"/>
          </a:xfrm>
          <a:prstGeom prst="rect">
            <a:avLst/>
          </a:prstGeom>
          <a:noFill/>
          <a:ln/>
        </p:spPr>
        <p:txBody>
          <a:bodyPr wrap="square" lIns="0" tIns="0" rIns="0" bIns="0" rtlCol="0" anchor="ctr"/>
          <a:lstStyle/>
          <a:p>
            <a:pPr indent="0" marL="0">
              <a:lnSpc>
                <a:spcPct val="116000"/>
              </a:lnSpc>
              <a:buNone/>
            </a:pPr>
            <a:r>
              <a:rPr lang="en-US" sz="1180" dirty="0">
                <a:solidFill>
                  <a:srgbClr val="94A3B8"/>
                </a:solidFill>
                <a:latin typeface="Calibri" pitchFamily="34" charset="0"/>
                <a:ea typeface="Calibri" pitchFamily="34" charset="-122"/>
                <a:cs typeface="Calibri" pitchFamily="34" charset="-120"/>
              </a:rPr>
              <a:t>73 typed read-only tools across native + SIFT layers, full pytest suite green on a fresh clone</a:t>
            </a:r>
            <a:endParaRPr lang="en-US" sz="1180" dirty="0"/>
          </a:p>
        </p:txBody>
      </p:sp>
      <p:sp>
        <p:nvSpPr>
          <p:cNvPr id="10" name="Shape 8"/>
          <p:cNvSpPr/>
          <p:nvPr/>
        </p:nvSpPr>
        <p:spPr>
          <a:xfrm>
            <a:off x="3355848" y="2514600"/>
            <a:ext cx="2606040" cy="3291840"/>
          </a:xfrm>
          <a:prstGeom prst="roundRect">
            <a:avLst>
              <a:gd name="adj" fmla="val 3158"/>
            </a:avLst>
          </a:prstGeom>
          <a:solidFill>
            <a:srgbClr val="1E293B"/>
          </a:solidFill>
          <a:ln w="12700">
            <a:solidFill>
              <a:srgbClr val="34D399"/>
            </a:solidFill>
            <a:prstDash val="solid"/>
          </a:ln>
          <a:effectLst>
            <a:outerShdw sx="100000" sy="100000" kx="0" ky="0" algn="bl" rotWithShape="0" blurRad="101600" dist="38100" dir="5400000">
              <a:srgbClr val="000000">
                <a:alpha val="28000"/>
              </a:srgbClr>
            </a:outerShdw>
          </a:effectLst>
        </p:spPr>
      </p:sp>
      <p:sp>
        <p:nvSpPr>
          <p:cNvPr id="11" name="Shape 9"/>
          <p:cNvSpPr/>
          <p:nvPr/>
        </p:nvSpPr>
        <p:spPr>
          <a:xfrm>
            <a:off x="3611880" y="2743200"/>
            <a:ext cx="502920" cy="502920"/>
          </a:xfrm>
          <a:prstGeom prst="ellipse">
            <a:avLst/>
          </a:prstGeom>
          <a:solidFill>
            <a:srgbClr val="34D399">
              <a:alpha val="20000"/>
            </a:srgbClr>
          </a:solidFill>
          <a:ln w="19050">
            <a:solidFill>
              <a:srgbClr val="34D399"/>
            </a:solidFill>
            <a:prstDash val="solid"/>
          </a:ln>
        </p:spPr>
      </p:sp>
      <p:sp>
        <p:nvSpPr>
          <p:cNvPr id="12" name="Text 10"/>
          <p:cNvSpPr/>
          <p:nvPr/>
        </p:nvSpPr>
        <p:spPr>
          <a:xfrm>
            <a:off x="3611880" y="2743200"/>
            <a:ext cx="502920" cy="502920"/>
          </a:xfrm>
          <a:prstGeom prst="rect">
            <a:avLst/>
          </a:prstGeom>
          <a:noFill/>
          <a:ln/>
        </p:spPr>
        <p:txBody>
          <a:bodyPr wrap="square" lIns="0" tIns="0" rIns="0" bIns="0" rtlCol="0" anchor="ctr"/>
          <a:lstStyle/>
          <a:p>
            <a:pPr algn="ctr" indent="0" marL="0">
              <a:buNone/>
            </a:pPr>
            <a:r>
              <a:rPr lang="en-US" sz="1900" b="1" dirty="0">
                <a:solidFill>
                  <a:srgbClr val="34D399"/>
                </a:solidFill>
                <a:latin typeface="Cambria" pitchFamily="34" charset="0"/>
                <a:ea typeface="Cambria" pitchFamily="34" charset="-122"/>
                <a:cs typeface="Cambria" pitchFamily="34" charset="-120"/>
              </a:rPr>
              <a:t>2</a:t>
            </a:r>
            <a:endParaRPr lang="en-US" sz="1900" dirty="0"/>
          </a:p>
        </p:txBody>
      </p:sp>
      <p:sp>
        <p:nvSpPr>
          <p:cNvPr id="13" name="Text 11"/>
          <p:cNvSpPr/>
          <p:nvPr/>
        </p:nvSpPr>
        <p:spPr>
          <a:xfrm>
            <a:off x="3611880" y="3383280"/>
            <a:ext cx="2148840" cy="685800"/>
          </a:xfrm>
          <a:prstGeom prst="rect">
            <a:avLst/>
          </a:prstGeom>
          <a:noFill/>
          <a:ln/>
        </p:spPr>
        <p:txBody>
          <a:bodyPr wrap="square" lIns="0" tIns="0" rIns="0" bIns="0" rtlCol="0" anchor="ctr"/>
          <a:lstStyle/>
          <a:p>
            <a:pPr indent="0" marL="0">
              <a:lnSpc>
                <a:spcPct val="105000"/>
              </a:lnSpc>
              <a:buNone/>
            </a:pPr>
            <a:r>
              <a:rPr lang="en-US" sz="1450" b="1" dirty="0">
                <a:solidFill>
                  <a:srgbClr val="E2E8F0"/>
                </a:solidFill>
                <a:latin typeface="Calibri" pitchFamily="34" charset="0"/>
                <a:ea typeface="Calibri" pitchFamily="34" charset="-122"/>
                <a:cs typeface="Calibri" pitchFamily="34" charset="-120"/>
              </a:rPr>
              <a:t>Built the measurement</a:t>
            </a:r>
            <a:endParaRPr lang="en-US" sz="1450" dirty="0"/>
          </a:p>
        </p:txBody>
      </p:sp>
      <p:sp>
        <p:nvSpPr>
          <p:cNvPr id="14" name="Text 12"/>
          <p:cNvSpPr/>
          <p:nvPr/>
        </p:nvSpPr>
        <p:spPr>
          <a:xfrm>
            <a:off x="3611880" y="4114800"/>
            <a:ext cx="2148840" cy="1600200"/>
          </a:xfrm>
          <a:prstGeom prst="rect">
            <a:avLst/>
          </a:prstGeom>
          <a:noFill/>
          <a:ln/>
        </p:spPr>
        <p:txBody>
          <a:bodyPr wrap="square" lIns="0" tIns="0" rIns="0" bIns="0" rtlCol="0" anchor="ctr"/>
          <a:lstStyle/>
          <a:p>
            <a:pPr indent="0" marL="0">
              <a:lnSpc>
                <a:spcPct val="116000"/>
              </a:lnSpc>
              <a:buNone/>
            </a:pPr>
            <a:r>
              <a:rPr lang="en-US" sz="1180" dirty="0">
                <a:solidFill>
                  <a:srgbClr val="94A3B8"/>
                </a:solidFill>
                <a:latin typeface="Calibri" pitchFamily="34" charset="0"/>
                <a:ea typeface="Calibri" pitchFamily="34" charset="-122"/>
                <a:cs typeface="Calibri" pitchFamily="34" charset="-120"/>
              </a:rPr>
              <a:t>recall / FPR / hallucination / evidence-integrity — reproducible from a single command</a:t>
            </a:r>
            <a:endParaRPr lang="en-US" sz="1180" dirty="0"/>
          </a:p>
        </p:txBody>
      </p:sp>
      <p:sp>
        <p:nvSpPr>
          <p:cNvPr id="15" name="Shape 13"/>
          <p:cNvSpPr/>
          <p:nvPr/>
        </p:nvSpPr>
        <p:spPr>
          <a:xfrm>
            <a:off x="6163056" y="2514600"/>
            <a:ext cx="2606040" cy="3291840"/>
          </a:xfrm>
          <a:prstGeom prst="roundRect">
            <a:avLst>
              <a:gd name="adj" fmla="val 3158"/>
            </a:avLst>
          </a:prstGeom>
          <a:solidFill>
            <a:srgbClr val="1E293B"/>
          </a:solidFill>
          <a:ln w="12700">
            <a:solidFill>
              <a:srgbClr val="A78BFA"/>
            </a:solidFill>
            <a:prstDash val="solid"/>
          </a:ln>
          <a:effectLst>
            <a:outerShdw sx="100000" sy="100000" kx="0" ky="0" algn="bl" rotWithShape="0" blurRad="101600" dist="38100" dir="5400000">
              <a:srgbClr val="000000">
                <a:alpha val="28000"/>
              </a:srgbClr>
            </a:outerShdw>
          </a:effectLst>
        </p:spPr>
      </p:sp>
      <p:sp>
        <p:nvSpPr>
          <p:cNvPr id="16" name="Shape 14"/>
          <p:cNvSpPr/>
          <p:nvPr/>
        </p:nvSpPr>
        <p:spPr>
          <a:xfrm>
            <a:off x="6419088" y="2743200"/>
            <a:ext cx="502920" cy="502920"/>
          </a:xfrm>
          <a:prstGeom prst="ellipse">
            <a:avLst/>
          </a:prstGeom>
          <a:solidFill>
            <a:srgbClr val="A78BFA">
              <a:alpha val="20000"/>
            </a:srgbClr>
          </a:solidFill>
          <a:ln w="19050">
            <a:solidFill>
              <a:srgbClr val="A78BFA"/>
            </a:solidFill>
            <a:prstDash val="solid"/>
          </a:ln>
        </p:spPr>
      </p:sp>
      <p:sp>
        <p:nvSpPr>
          <p:cNvPr id="17" name="Text 15"/>
          <p:cNvSpPr/>
          <p:nvPr/>
        </p:nvSpPr>
        <p:spPr>
          <a:xfrm>
            <a:off x="6419088" y="2743200"/>
            <a:ext cx="502920" cy="502920"/>
          </a:xfrm>
          <a:prstGeom prst="rect">
            <a:avLst/>
          </a:prstGeom>
          <a:noFill/>
          <a:ln/>
        </p:spPr>
        <p:txBody>
          <a:bodyPr wrap="square" lIns="0" tIns="0" rIns="0" bIns="0" rtlCol="0" anchor="ctr"/>
          <a:lstStyle/>
          <a:p>
            <a:pPr algn="ctr" indent="0" marL="0">
              <a:buNone/>
            </a:pPr>
            <a:r>
              <a:rPr lang="en-US" sz="1900" b="1" dirty="0">
                <a:solidFill>
                  <a:srgbClr val="A78BFA"/>
                </a:solidFill>
                <a:latin typeface="Cambria" pitchFamily="34" charset="0"/>
                <a:ea typeface="Cambria" pitchFamily="34" charset="-122"/>
                <a:cs typeface="Cambria" pitchFamily="34" charset="-120"/>
              </a:rPr>
              <a:t>3</a:t>
            </a:r>
            <a:endParaRPr lang="en-US" sz="1900" dirty="0"/>
          </a:p>
        </p:txBody>
      </p:sp>
      <p:sp>
        <p:nvSpPr>
          <p:cNvPr id="18" name="Text 16"/>
          <p:cNvSpPr/>
          <p:nvPr/>
        </p:nvSpPr>
        <p:spPr>
          <a:xfrm>
            <a:off x="6419088" y="3383280"/>
            <a:ext cx="2148840" cy="685800"/>
          </a:xfrm>
          <a:prstGeom prst="rect">
            <a:avLst/>
          </a:prstGeom>
          <a:noFill/>
          <a:ln/>
        </p:spPr>
        <p:txBody>
          <a:bodyPr wrap="square" lIns="0" tIns="0" rIns="0" bIns="0" rtlCol="0" anchor="ctr"/>
          <a:lstStyle/>
          <a:p>
            <a:pPr indent="0" marL="0">
              <a:lnSpc>
                <a:spcPct val="105000"/>
              </a:lnSpc>
              <a:buNone/>
            </a:pPr>
            <a:r>
              <a:rPr lang="en-US" sz="1450" b="1" dirty="0">
                <a:solidFill>
                  <a:srgbClr val="E2E8F0"/>
                </a:solidFill>
                <a:latin typeface="Calibri" pitchFamily="34" charset="0"/>
                <a:ea typeface="Calibri" pitchFamily="34" charset="-122"/>
                <a:cs typeface="Calibri" pitchFamily="34" charset="-120"/>
              </a:rPr>
              <a:t>Went external</a:t>
            </a:r>
            <a:endParaRPr lang="en-US" sz="1450" dirty="0"/>
          </a:p>
        </p:txBody>
      </p:sp>
      <p:sp>
        <p:nvSpPr>
          <p:cNvPr id="19" name="Text 17"/>
          <p:cNvSpPr/>
          <p:nvPr/>
        </p:nvSpPr>
        <p:spPr>
          <a:xfrm>
            <a:off x="6419088" y="4114800"/>
            <a:ext cx="2148840" cy="1600200"/>
          </a:xfrm>
          <a:prstGeom prst="rect">
            <a:avLst/>
          </a:prstGeom>
          <a:noFill/>
          <a:ln/>
        </p:spPr>
        <p:txBody>
          <a:bodyPr wrap="square" lIns="0" tIns="0" rIns="0" bIns="0" rtlCol="0" anchor="ctr"/>
          <a:lstStyle/>
          <a:p>
            <a:pPr indent="0" marL="0">
              <a:lnSpc>
                <a:spcPct val="116000"/>
              </a:lnSpc>
              <a:buNone/>
            </a:pPr>
            <a:r>
              <a:rPr lang="en-US" sz="1180" dirty="0">
                <a:solidFill>
                  <a:srgbClr val="94A3B8"/>
                </a:solidFill>
                <a:latin typeface="Calibri" pitchFamily="34" charset="0"/>
                <a:ea typeface="Calibri" pitchFamily="34" charset="-122"/>
                <a:cs typeface="Calibri" pitchFamily="34" charset="-120"/>
              </a:rPr>
              <a:t>NIST CFReDS, Ali Hadi, Digital Corpora M57 — three independent authoring bodies, 10–20 yrs old</a:t>
            </a:r>
            <a:endParaRPr lang="en-US" sz="1180" dirty="0"/>
          </a:p>
        </p:txBody>
      </p:sp>
      <p:sp>
        <p:nvSpPr>
          <p:cNvPr id="20" name="Shape 18"/>
          <p:cNvSpPr/>
          <p:nvPr/>
        </p:nvSpPr>
        <p:spPr>
          <a:xfrm>
            <a:off x="8970264" y="2514600"/>
            <a:ext cx="2606040" cy="3291840"/>
          </a:xfrm>
          <a:prstGeom prst="roundRect">
            <a:avLst>
              <a:gd name="adj" fmla="val 3158"/>
            </a:avLst>
          </a:prstGeom>
          <a:solidFill>
            <a:srgbClr val="1E293B"/>
          </a:solidFill>
          <a:ln w="12700">
            <a:solidFill>
              <a:srgbClr val="FBBF24"/>
            </a:solidFill>
            <a:prstDash val="solid"/>
          </a:ln>
          <a:effectLst>
            <a:outerShdw sx="100000" sy="100000" kx="0" ky="0" algn="bl" rotWithShape="0" blurRad="101600" dist="38100" dir="5400000">
              <a:srgbClr val="000000">
                <a:alpha val="28000"/>
              </a:srgbClr>
            </a:outerShdw>
          </a:effectLst>
        </p:spPr>
      </p:sp>
      <p:sp>
        <p:nvSpPr>
          <p:cNvPr id="21" name="Shape 19"/>
          <p:cNvSpPr/>
          <p:nvPr/>
        </p:nvSpPr>
        <p:spPr>
          <a:xfrm>
            <a:off x="9226296" y="2743200"/>
            <a:ext cx="502920" cy="502920"/>
          </a:xfrm>
          <a:prstGeom prst="ellipse">
            <a:avLst/>
          </a:prstGeom>
          <a:solidFill>
            <a:srgbClr val="FBBF24">
              <a:alpha val="20000"/>
            </a:srgbClr>
          </a:solidFill>
          <a:ln w="19050">
            <a:solidFill>
              <a:srgbClr val="FBBF24"/>
            </a:solidFill>
            <a:prstDash val="solid"/>
          </a:ln>
        </p:spPr>
      </p:sp>
      <p:sp>
        <p:nvSpPr>
          <p:cNvPr id="22" name="Text 20"/>
          <p:cNvSpPr/>
          <p:nvPr/>
        </p:nvSpPr>
        <p:spPr>
          <a:xfrm>
            <a:off x="9226296" y="2743200"/>
            <a:ext cx="502920" cy="502920"/>
          </a:xfrm>
          <a:prstGeom prst="rect">
            <a:avLst/>
          </a:prstGeom>
          <a:noFill/>
          <a:ln/>
        </p:spPr>
        <p:txBody>
          <a:bodyPr wrap="square" lIns="0" tIns="0" rIns="0" bIns="0" rtlCol="0" anchor="ctr"/>
          <a:lstStyle/>
          <a:p>
            <a:pPr algn="ctr" indent="0" marL="0">
              <a:buNone/>
            </a:pPr>
            <a:r>
              <a:rPr lang="en-US" sz="1900" b="1" dirty="0">
                <a:solidFill>
                  <a:srgbClr val="FBBF24"/>
                </a:solidFill>
                <a:latin typeface="Cambria" pitchFamily="34" charset="0"/>
                <a:ea typeface="Cambria" pitchFamily="34" charset="-122"/>
                <a:cs typeface="Cambria" pitchFamily="34" charset="-120"/>
              </a:rPr>
              <a:t>4</a:t>
            </a:r>
            <a:endParaRPr lang="en-US" sz="1900" dirty="0"/>
          </a:p>
        </p:txBody>
      </p:sp>
      <p:sp>
        <p:nvSpPr>
          <p:cNvPr id="23" name="Text 21"/>
          <p:cNvSpPr/>
          <p:nvPr/>
        </p:nvSpPr>
        <p:spPr>
          <a:xfrm>
            <a:off x="9226296" y="3383280"/>
            <a:ext cx="2148840" cy="685800"/>
          </a:xfrm>
          <a:prstGeom prst="rect">
            <a:avLst/>
          </a:prstGeom>
          <a:noFill/>
          <a:ln/>
        </p:spPr>
        <p:txBody>
          <a:bodyPr wrap="square" lIns="0" tIns="0" rIns="0" bIns="0" rtlCol="0" anchor="ctr"/>
          <a:lstStyle/>
          <a:p>
            <a:pPr indent="0" marL="0">
              <a:lnSpc>
                <a:spcPct val="105000"/>
              </a:lnSpc>
              <a:buNone/>
            </a:pPr>
            <a:r>
              <a:rPr lang="en-US" sz="1450" b="1" dirty="0">
                <a:solidFill>
                  <a:srgbClr val="E2E8F0"/>
                </a:solidFill>
                <a:latin typeface="Calibri" pitchFamily="34" charset="0"/>
                <a:ea typeface="Calibri" pitchFamily="34" charset="-122"/>
                <a:cs typeface="Calibri" pitchFamily="34" charset="-120"/>
              </a:rPr>
              <a:t>Let it reorder the work</a:t>
            </a:r>
            <a:endParaRPr lang="en-US" sz="1450" dirty="0"/>
          </a:p>
        </p:txBody>
      </p:sp>
      <p:sp>
        <p:nvSpPr>
          <p:cNvPr id="24" name="Text 22"/>
          <p:cNvSpPr/>
          <p:nvPr/>
        </p:nvSpPr>
        <p:spPr>
          <a:xfrm>
            <a:off x="9226296" y="4114800"/>
            <a:ext cx="2148840" cy="1600200"/>
          </a:xfrm>
          <a:prstGeom prst="rect">
            <a:avLst/>
          </a:prstGeom>
          <a:noFill/>
          <a:ln/>
        </p:spPr>
        <p:txBody>
          <a:bodyPr wrap="square" lIns="0" tIns="0" rIns="0" bIns="0" rtlCol="0" anchor="ctr"/>
          <a:lstStyle/>
          <a:p>
            <a:pPr indent="0" marL="0">
              <a:lnSpc>
                <a:spcPct val="116000"/>
              </a:lnSpc>
              <a:buNone/>
            </a:pPr>
            <a:r>
              <a:rPr lang="en-US" sz="1180" dirty="0">
                <a:solidFill>
                  <a:srgbClr val="94A3B8"/>
                </a:solidFill>
                <a:latin typeface="Calibri" pitchFamily="34" charset="0"/>
                <a:ea typeface="Calibri" pitchFamily="34" charset="-122"/>
                <a:cs typeface="Calibri" pitchFamily="34" charset="-120"/>
              </a:rPr>
              <a:t>external data turned 'add registry parsing someday' into 'ship it next' — evidence over guesswork</a:t>
            </a:r>
            <a:endParaRPr lang="en-US" sz="1180" dirty="0"/>
          </a:p>
        </p:txBody>
      </p:sp>
      <p:sp>
        <p:nvSpPr>
          <p:cNvPr id="25" name="Text 23"/>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26" name="Text 24"/>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 / 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38912"/>
            <a:ext cx="10972800" cy="292608"/>
          </a:xfrm>
          <a:prstGeom prst="rect">
            <a:avLst/>
          </a:prstGeom>
          <a:noFill/>
          <a:ln/>
        </p:spPr>
        <p:txBody>
          <a:bodyPr wrap="square" lIns="0" tIns="0" rIns="0" bIns="0" rtlCol="0" anchor="ctr"/>
          <a:lstStyle/>
          <a:p>
            <a:pPr indent="0" marL="0">
              <a:buNone/>
            </a:pPr>
            <a:r>
              <a:rPr lang="en-US" sz="1200" b="1" spc="300" kern="0" dirty="0">
                <a:solidFill>
                  <a:srgbClr val="38BDF8"/>
                </a:solidFill>
                <a:latin typeface="Calibri" pitchFamily="34" charset="0"/>
                <a:ea typeface="Calibri" pitchFamily="34" charset="-122"/>
                <a:cs typeface="Calibri" pitchFamily="34" charset="-120"/>
              </a:rPr>
              <a:t>WHERE IT'S GOING</a:t>
            </a:r>
            <a:endParaRPr lang="en-US" sz="1200" dirty="0"/>
          </a:p>
        </p:txBody>
      </p:sp>
      <p:sp>
        <p:nvSpPr>
          <p:cNvPr id="3" name="Text 1"/>
          <p:cNvSpPr/>
          <p:nvPr/>
        </p:nvSpPr>
        <p:spPr>
          <a:xfrm>
            <a:off x="548640" y="749808"/>
            <a:ext cx="11064240" cy="960120"/>
          </a:xfrm>
          <a:prstGeom prst="rect">
            <a:avLst/>
          </a:prstGeom>
          <a:noFill/>
          <a:ln/>
        </p:spPr>
        <p:txBody>
          <a:bodyPr wrap="square" lIns="0" tIns="0" rIns="0" bIns="0" rtlCol="0" anchor="t"/>
          <a:lstStyle/>
          <a:p>
            <a:pPr indent="0" marL="0">
              <a:lnSpc>
                <a:spcPct val="100000"/>
              </a:lnSpc>
              <a:buNone/>
            </a:pPr>
            <a:r>
              <a:rPr lang="en-US" sz="3100" b="1" dirty="0">
                <a:solidFill>
                  <a:srgbClr val="E2E8F0"/>
                </a:solidFill>
                <a:latin typeface="Cambria" pitchFamily="34" charset="0"/>
                <a:ea typeface="Cambria" pitchFamily="34" charset="-122"/>
                <a:cs typeface="Cambria" pitchFamily="34" charset="-120"/>
              </a:rPr>
              <a:t>Phase 1 is architecturally complete and empirically validated</a:t>
            </a:r>
            <a:endParaRPr lang="en-US" sz="3100" dirty="0"/>
          </a:p>
        </p:txBody>
      </p:sp>
      <p:sp>
        <p:nvSpPr>
          <p:cNvPr id="4" name="Shape 2"/>
          <p:cNvSpPr/>
          <p:nvPr/>
        </p:nvSpPr>
        <p:spPr>
          <a:xfrm>
            <a:off x="548640" y="1965960"/>
            <a:ext cx="11064240" cy="1207008"/>
          </a:xfrm>
          <a:prstGeom prst="roundRect">
            <a:avLst>
              <a:gd name="adj" fmla="val 6818"/>
            </a:avLst>
          </a:prstGeom>
          <a:solidFill>
            <a:srgbClr val="1E293B"/>
          </a:solidFill>
          <a:ln w="12700">
            <a:solidFill>
              <a:srgbClr val="34D399"/>
            </a:solidFill>
            <a:prstDash val="solid"/>
          </a:ln>
          <a:effectLst>
            <a:outerShdw sx="100000" sy="100000" kx="0" ky="0" algn="bl" rotWithShape="0" blurRad="101600" dist="38100" dir="5400000">
              <a:srgbClr val="000000">
                <a:alpha val="28000"/>
              </a:srgbClr>
            </a:outerShdw>
          </a:effectLst>
        </p:spPr>
      </p:sp>
      <p:sp>
        <p:nvSpPr>
          <p:cNvPr id="5" name="Shape 3"/>
          <p:cNvSpPr/>
          <p:nvPr/>
        </p:nvSpPr>
        <p:spPr>
          <a:xfrm>
            <a:off x="822960" y="2331720"/>
            <a:ext cx="457200" cy="457200"/>
          </a:xfrm>
          <a:prstGeom prst="ellipse">
            <a:avLst/>
          </a:prstGeom>
          <a:solidFill>
            <a:srgbClr val="34D399">
              <a:alpha val="20000"/>
            </a:srgbClr>
          </a:solidFill>
          <a:ln w="19050">
            <a:solidFill>
              <a:srgbClr val="34D399"/>
            </a:solidFill>
            <a:prstDash val="solid"/>
          </a:ln>
        </p:spPr>
      </p:sp>
      <p:sp>
        <p:nvSpPr>
          <p:cNvPr id="6" name="Text 4"/>
          <p:cNvSpPr/>
          <p:nvPr/>
        </p:nvSpPr>
        <p:spPr>
          <a:xfrm>
            <a:off x="822960" y="2331720"/>
            <a:ext cx="457200" cy="457200"/>
          </a:xfrm>
          <a:prstGeom prst="rect">
            <a:avLst/>
          </a:prstGeom>
          <a:noFill/>
          <a:ln/>
        </p:spPr>
        <p:txBody>
          <a:bodyPr wrap="square" lIns="0" tIns="0" rIns="0" bIns="0" rtlCol="0" anchor="ctr"/>
          <a:lstStyle/>
          <a:p>
            <a:pPr algn="ctr" indent="0" marL="0">
              <a:buNone/>
            </a:pPr>
            <a:r>
              <a:rPr lang="en-US" sz="1800" b="1" dirty="0">
                <a:solidFill>
                  <a:srgbClr val="34D399"/>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63040" y="2130552"/>
            <a:ext cx="5669280" cy="457200"/>
          </a:xfrm>
          <a:prstGeom prst="rect">
            <a:avLst/>
          </a:prstGeom>
          <a:noFill/>
          <a:ln/>
        </p:spPr>
        <p:txBody>
          <a:bodyPr wrap="square" lIns="0" tIns="0" rIns="0" bIns="0" rtlCol="0" anchor="ctr"/>
          <a:lstStyle/>
          <a:p>
            <a:pPr indent="0" marL="0">
              <a:buNone/>
            </a:pPr>
            <a:r>
              <a:rPr lang="en-US" sz="1650" b="1" dirty="0">
                <a:solidFill>
                  <a:srgbClr val="E2E8F0"/>
                </a:solidFill>
                <a:latin typeface="Calibri" pitchFamily="34" charset="0"/>
                <a:ea typeface="Calibri" pitchFamily="34" charset="-122"/>
                <a:cs typeface="Calibri" pitchFamily="34" charset="-120"/>
              </a:rPr>
              <a:t>Phase 1 — Agentic DFIR</a:t>
            </a:r>
            <a:endParaRPr lang="en-US" sz="1650" dirty="0"/>
          </a:p>
        </p:txBody>
      </p:sp>
      <p:sp>
        <p:nvSpPr>
          <p:cNvPr id="8" name="Text 6"/>
          <p:cNvSpPr/>
          <p:nvPr/>
        </p:nvSpPr>
        <p:spPr>
          <a:xfrm>
            <a:off x="1463040" y="2587752"/>
            <a:ext cx="7680960" cy="502920"/>
          </a:xfrm>
          <a:prstGeom prst="rect">
            <a:avLst/>
          </a:prstGeom>
          <a:noFill/>
          <a:ln/>
        </p:spPr>
        <p:txBody>
          <a:bodyPr wrap="square" lIns="0" tIns="0" rIns="0" bIns="0" rtlCol="0" anchor="ctr"/>
          <a:lstStyle/>
          <a:p>
            <a:pPr indent="0" marL="0">
              <a:lnSpc>
                <a:spcPct val="110000"/>
              </a:lnSpc>
              <a:buNone/>
            </a:pPr>
            <a:r>
              <a:rPr lang="en-US" sz="1250" dirty="0">
                <a:solidFill>
                  <a:srgbClr val="94A3B8"/>
                </a:solidFill>
                <a:latin typeface="Calibri" pitchFamily="34" charset="0"/>
                <a:ea typeface="Calibri" pitchFamily="34" charset="-122"/>
                <a:cs typeface="Calibri" pitchFamily="34" charset="-120"/>
              </a:rPr>
              <a:t>Typed read-only surface, audit chain, self-correcting loop, measured accuracy. This submission.</a:t>
            </a:r>
            <a:endParaRPr lang="en-US" sz="1250" dirty="0"/>
          </a:p>
        </p:txBody>
      </p:sp>
      <p:sp>
        <p:nvSpPr>
          <p:cNvPr id="9" name="Shape 7"/>
          <p:cNvSpPr/>
          <p:nvPr/>
        </p:nvSpPr>
        <p:spPr>
          <a:xfrm>
            <a:off x="9555480" y="2377440"/>
            <a:ext cx="1828800" cy="384048"/>
          </a:xfrm>
          <a:prstGeom prst="roundRect">
            <a:avLst>
              <a:gd name="adj" fmla="val 50000"/>
            </a:avLst>
          </a:prstGeom>
          <a:solidFill>
            <a:srgbClr val="172033"/>
          </a:solidFill>
          <a:ln w="12700">
            <a:solidFill>
              <a:srgbClr val="34D399"/>
            </a:solidFill>
            <a:prstDash val="solid"/>
          </a:ln>
        </p:spPr>
      </p:sp>
      <p:sp>
        <p:nvSpPr>
          <p:cNvPr id="10" name="Text 8"/>
          <p:cNvSpPr/>
          <p:nvPr/>
        </p:nvSpPr>
        <p:spPr>
          <a:xfrm>
            <a:off x="9555480" y="2377440"/>
            <a:ext cx="1828800" cy="384048"/>
          </a:xfrm>
          <a:prstGeom prst="rect">
            <a:avLst/>
          </a:prstGeom>
          <a:noFill/>
          <a:ln/>
        </p:spPr>
        <p:txBody>
          <a:bodyPr wrap="square" lIns="0" tIns="0" rIns="0" bIns="0" rtlCol="0" anchor="ctr"/>
          <a:lstStyle/>
          <a:p>
            <a:pPr algn="ctr" indent="0" marL="0">
              <a:buNone/>
            </a:pPr>
            <a:r>
              <a:rPr lang="en-US" sz="1250" b="1" dirty="0">
                <a:solidFill>
                  <a:srgbClr val="34D399"/>
                </a:solidFill>
                <a:latin typeface="Calibri" pitchFamily="34" charset="0"/>
                <a:ea typeface="Calibri" pitchFamily="34" charset="-122"/>
                <a:cs typeface="Calibri" pitchFamily="34" charset="-120"/>
              </a:rPr>
              <a:t>~95% complete</a:t>
            </a:r>
            <a:endParaRPr lang="en-US" sz="1250" dirty="0"/>
          </a:p>
        </p:txBody>
      </p:sp>
      <p:sp>
        <p:nvSpPr>
          <p:cNvPr id="11" name="Shape 9"/>
          <p:cNvSpPr/>
          <p:nvPr/>
        </p:nvSpPr>
        <p:spPr>
          <a:xfrm>
            <a:off x="548640" y="3337560"/>
            <a:ext cx="11064240" cy="1207008"/>
          </a:xfrm>
          <a:prstGeom prst="roundRect">
            <a:avLst>
              <a:gd name="adj" fmla="val 6818"/>
            </a:avLst>
          </a:prstGeom>
          <a:solidFill>
            <a:srgbClr val="1E293B"/>
          </a:solidFill>
          <a:ln w="12700">
            <a:solidFill>
              <a:srgbClr val="FBBF24"/>
            </a:solidFill>
            <a:prstDash val="solid"/>
          </a:ln>
          <a:effectLst>
            <a:outerShdw sx="100000" sy="100000" kx="0" ky="0" algn="bl" rotWithShape="0" blurRad="101600" dist="38100" dir="5400000">
              <a:srgbClr val="000000">
                <a:alpha val="28000"/>
              </a:srgbClr>
            </a:outerShdw>
          </a:effectLst>
        </p:spPr>
      </p:sp>
      <p:sp>
        <p:nvSpPr>
          <p:cNvPr id="12" name="Shape 10"/>
          <p:cNvSpPr/>
          <p:nvPr/>
        </p:nvSpPr>
        <p:spPr>
          <a:xfrm>
            <a:off x="822960" y="3703320"/>
            <a:ext cx="457200" cy="457200"/>
          </a:xfrm>
          <a:prstGeom prst="ellipse">
            <a:avLst/>
          </a:prstGeom>
          <a:solidFill>
            <a:srgbClr val="FBBF24">
              <a:alpha val="20000"/>
            </a:srgbClr>
          </a:solidFill>
          <a:ln w="19050">
            <a:solidFill>
              <a:srgbClr val="FBBF24"/>
            </a:solidFill>
            <a:prstDash val="solid"/>
          </a:ln>
        </p:spPr>
      </p:sp>
      <p:sp>
        <p:nvSpPr>
          <p:cNvPr id="13" name="Text 11"/>
          <p:cNvSpPr/>
          <p:nvPr/>
        </p:nvSpPr>
        <p:spPr>
          <a:xfrm>
            <a:off x="822960" y="3703320"/>
            <a:ext cx="457200" cy="457200"/>
          </a:xfrm>
          <a:prstGeom prst="rect">
            <a:avLst/>
          </a:prstGeom>
          <a:noFill/>
          <a:ln/>
        </p:spPr>
        <p:txBody>
          <a:bodyPr wrap="square" lIns="0" tIns="0" rIns="0" bIns="0" rtlCol="0" anchor="ctr"/>
          <a:lstStyle/>
          <a:p>
            <a:pPr algn="ctr" indent="0" marL="0">
              <a:buNone/>
            </a:pPr>
            <a:r>
              <a:rPr lang="en-US" sz="1800" b="1" dirty="0">
                <a:solidFill>
                  <a:srgbClr val="FBBF24"/>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1463040" y="3502152"/>
            <a:ext cx="5669280" cy="457200"/>
          </a:xfrm>
          <a:prstGeom prst="rect">
            <a:avLst/>
          </a:prstGeom>
          <a:noFill/>
          <a:ln/>
        </p:spPr>
        <p:txBody>
          <a:bodyPr wrap="square" lIns="0" tIns="0" rIns="0" bIns="0" rtlCol="0" anchor="ctr"/>
          <a:lstStyle/>
          <a:p>
            <a:pPr indent="0" marL="0">
              <a:buNone/>
            </a:pPr>
            <a:r>
              <a:rPr lang="en-US" sz="1650" b="1" dirty="0">
                <a:solidFill>
                  <a:srgbClr val="E2E8F0"/>
                </a:solidFill>
                <a:latin typeface="Calibri" pitchFamily="34" charset="0"/>
                <a:ea typeface="Calibri" pitchFamily="34" charset="-122"/>
                <a:cs typeface="Calibri" pitchFamily="34" charset="-120"/>
              </a:rPr>
              <a:t>Phase 2 — Content-centric expansion</a:t>
            </a:r>
            <a:endParaRPr lang="en-US" sz="1650" dirty="0"/>
          </a:p>
        </p:txBody>
      </p:sp>
      <p:sp>
        <p:nvSpPr>
          <p:cNvPr id="15" name="Text 13"/>
          <p:cNvSpPr/>
          <p:nvPr/>
        </p:nvSpPr>
        <p:spPr>
          <a:xfrm>
            <a:off x="1463040" y="3959352"/>
            <a:ext cx="7680960" cy="502920"/>
          </a:xfrm>
          <a:prstGeom prst="rect">
            <a:avLst/>
          </a:prstGeom>
          <a:noFill/>
          <a:ln/>
        </p:spPr>
        <p:txBody>
          <a:bodyPr wrap="square" lIns="0" tIns="0" rIns="0" bIns="0" rtlCol="0" anchor="ctr"/>
          <a:lstStyle/>
          <a:p>
            <a:pPr indent="0" marL="0">
              <a:lnSpc>
                <a:spcPct val="110000"/>
              </a:lnSpc>
              <a:buNone/>
            </a:pPr>
            <a:r>
              <a:rPr lang="en-US" sz="1250" dirty="0">
                <a:solidFill>
                  <a:srgbClr val="94A3B8"/>
                </a:solidFill>
                <a:latin typeface="Calibri" pitchFamily="34" charset="0"/>
                <a:ea typeface="Calibri" pitchFamily="34" charset="-122"/>
                <a:cs typeface="Calibri" pitchFamily="34" charset="-120"/>
              </a:rPr>
              <a:t>Broaden parsing (registry/journal/browser content) against community corpora; close the external gap.</a:t>
            </a:r>
            <a:endParaRPr lang="en-US" sz="1250" dirty="0"/>
          </a:p>
        </p:txBody>
      </p:sp>
      <p:sp>
        <p:nvSpPr>
          <p:cNvPr id="16" name="Shape 14"/>
          <p:cNvSpPr/>
          <p:nvPr/>
        </p:nvSpPr>
        <p:spPr>
          <a:xfrm>
            <a:off x="9555480" y="3749040"/>
            <a:ext cx="1828800" cy="384048"/>
          </a:xfrm>
          <a:prstGeom prst="roundRect">
            <a:avLst>
              <a:gd name="adj" fmla="val 50000"/>
            </a:avLst>
          </a:prstGeom>
          <a:solidFill>
            <a:srgbClr val="172033"/>
          </a:solidFill>
          <a:ln w="12700">
            <a:solidFill>
              <a:srgbClr val="FBBF24"/>
            </a:solidFill>
            <a:prstDash val="solid"/>
          </a:ln>
        </p:spPr>
      </p:sp>
      <p:sp>
        <p:nvSpPr>
          <p:cNvPr id="17" name="Text 15"/>
          <p:cNvSpPr/>
          <p:nvPr/>
        </p:nvSpPr>
        <p:spPr>
          <a:xfrm>
            <a:off x="9555480" y="3749040"/>
            <a:ext cx="1828800" cy="384048"/>
          </a:xfrm>
          <a:prstGeom prst="rect">
            <a:avLst/>
          </a:prstGeom>
          <a:noFill/>
          <a:ln/>
        </p:spPr>
        <p:txBody>
          <a:bodyPr wrap="square" lIns="0" tIns="0" rIns="0" bIns="0" rtlCol="0" anchor="ctr"/>
          <a:lstStyle/>
          <a:p>
            <a:pPr algn="ctr" indent="0" marL="0">
              <a:buNone/>
            </a:pPr>
            <a:r>
              <a:rPr lang="en-US" sz="1250" b="1" dirty="0">
                <a:solidFill>
                  <a:srgbClr val="FBBF24"/>
                </a:solidFill>
                <a:latin typeface="Calibri" pitchFamily="34" charset="0"/>
                <a:ea typeface="Calibri" pitchFamily="34" charset="-122"/>
                <a:cs typeface="Calibri" pitchFamily="34" charset="-120"/>
              </a:rPr>
              <a:t>in planning</a:t>
            </a:r>
            <a:endParaRPr lang="en-US" sz="1250" dirty="0"/>
          </a:p>
        </p:txBody>
      </p:sp>
      <p:sp>
        <p:nvSpPr>
          <p:cNvPr id="18" name="Shape 16"/>
          <p:cNvSpPr/>
          <p:nvPr/>
        </p:nvSpPr>
        <p:spPr>
          <a:xfrm>
            <a:off x="548640" y="4709160"/>
            <a:ext cx="11064240" cy="1207008"/>
          </a:xfrm>
          <a:prstGeom prst="roundRect">
            <a:avLst>
              <a:gd name="adj" fmla="val 6818"/>
            </a:avLst>
          </a:prstGeom>
          <a:solidFill>
            <a:srgbClr val="1E293B"/>
          </a:solidFill>
          <a:ln w="12700">
            <a:solidFill>
              <a:srgbClr val="A78BFA"/>
            </a:solidFill>
            <a:prstDash val="solid"/>
          </a:ln>
          <a:effectLst>
            <a:outerShdw sx="100000" sy="100000" kx="0" ky="0" algn="bl" rotWithShape="0" blurRad="101600" dist="38100" dir="5400000">
              <a:srgbClr val="000000">
                <a:alpha val="28000"/>
              </a:srgbClr>
            </a:outerShdw>
          </a:effectLst>
        </p:spPr>
      </p:sp>
      <p:sp>
        <p:nvSpPr>
          <p:cNvPr id="19" name="Shape 17"/>
          <p:cNvSpPr/>
          <p:nvPr/>
        </p:nvSpPr>
        <p:spPr>
          <a:xfrm>
            <a:off x="822960" y="5074920"/>
            <a:ext cx="457200" cy="457200"/>
          </a:xfrm>
          <a:prstGeom prst="ellipse">
            <a:avLst/>
          </a:prstGeom>
          <a:solidFill>
            <a:srgbClr val="A78BFA">
              <a:alpha val="20000"/>
            </a:srgbClr>
          </a:solidFill>
          <a:ln w="19050">
            <a:solidFill>
              <a:srgbClr val="A78BFA"/>
            </a:solidFill>
            <a:prstDash val="solid"/>
          </a:ln>
        </p:spPr>
      </p:sp>
      <p:sp>
        <p:nvSpPr>
          <p:cNvPr id="20" name="Text 18"/>
          <p:cNvSpPr/>
          <p:nvPr/>
        </p:nvSpPr>
        <p:spPr>
          <a:xfrm>
            <a:off x="822960" y="5074920"/>
            <a:ext cx="457200" cy="457200"/>
          </a:xfrm>
          <a:prstGeom prst="rect">
            <a:avLst/>
          </a:prstGeom>
          <a:noFill/>
          <a:ln/>
        </p:spPr>
        <p:txBody>
          <a:bodyPr wrap="square" lIns="0" tIns="0" rIns="0" bIns="0" rtlCol="0" anchor="ctr"/>
          <a:lstStyle/>
          <a:p>
            <a:pPr algn="ctr" indent="0" marL="0">
              <a:buNone/>
            </a:pPr>
            <a:r>
              <a:rPr lang="en-US" sz="1800" b="1" dirty="0">
                <a:solidFill>
                  <a:srgbClr val="A78BFA"/>
                </a:solidFill>
                <a:latin typeface="Cambria" pitchFamily="34" charset="0"/>
                <a:ea typeface="Cambria" pitchFamily="34" charset="-122"/>
                <a:cs typeface="Cambria" pitchFamily="34" charset="-120"/>
              </a:rPr>
              <a:t>3</a:t>
            </a:r>
            <a:endParaRPr lang="en-US" sz="1800" dirty="0"/>
          </a:p>
        </p:txBody>
      </p:sp>
      <p:sp>
        <p:nvSpPr>
          <p:cNvPr id="21" name="Text 19"/>
          <p:cNvSpPr/>
          <p:nvPr/>
        </p:nvSpPr>
        <p:spPr>
          <a:xfrm>
            <a:off x="1463040" y="4873752"/>
            <a:ext cx="5669280" cy="457200"/>
          </a:xfrm>
          <a:prstGeom prst="rect">
            <a:avLst/>
          </a:prstGeom>
          <a:noFill/>
          <a:ln/>
        </p:spPr>
        <p:txBody>
          <a:bodyPr wrap="square" lIns="0" tIns="0" rIns="0" bIns="0" rtlCol="0" anchor="ctr"/>
          <a:lstStyle/>
          <a:p>
            <a:pPr indent="0" marL="0">
              <a:buNone/>
            </a:pPr>
            <a:r>
              <a:rPr lang="en-US" sz="1650" b="1" dirty="0">
                <a:solidFill>
                  <a:srgbClr val="E2E8F0"/>
                </a:solidFill>
                <a:latin typeface="Calibri" pitchFamily="34" charset="0"/>
                <a:ea typeface="Calibri" pitchFamily="34" charset="-122"/>
                <a:cs typeface="Calibri" pitchFamily="34" charset="-120"/>
              </a:rPr>
              <a:t>Phase 3 — Supervised triage &amp; response</a:t>
            </a:r>
            <a:endParaRPr lang="en-US" sz="1650" dirty="0"/>
          </a:p>
        </p:txBody>
      </p:sp>
      <p:sp>
        <p:nvSpPr>
          <p:cNvPr id="22" name="Text 20"/>
          <p:cNvSpPr/>
          <p:nvPr/>
        </p:nvSpPr>
        <p:spPr>
          <a:xfrm>
            <a:off x="1463040" y="5330952"/>
            <a:ext cx="7680960" cy="502920"/>
          </a:xfrm>
          <a:prstGeom prst="rect">
            <a:avLst/>
          </a:prstGeom>
          <a:noFill/>
          <a:ln/>
        </p:spPr>
        <p:txBody>
          <a:bodyPr wrap="square" lIns="0" tIns="0" rIns="0" bIns="0" rtlCol="0" anchor="ctr"/>
          <a:lstStyle/>
          <a:p>
            <a:pPr indent="0" marL="0">
              <a:lnSpc>
                <a:spcPct val="110000"/>
              </a:lnSpc>
              <a:buNone/>
            </a:pPr>
            <a:r>
              <a:rPr lang="en-US" sz="1250" dirty="0">
                <a:solidFill>
                  <a:srgbClr val="94A3B8"/>
                </a:solidFill>
                <a:latin typeface="Calibri" pitchFamily="34" charset="0"/>
                <a:ea typeface="Calibri" pitchFamily="34" charset="-122"/>
                <a:cs typeface="Calibri" pitchFamily="34" charset="-120"/>
              </a:rPr>
              <a:t>Human-in-the-loop triage, enrichment and response orchestration on the same audited foundation.</a:t>
            </a:r>
            <a:endParaRPr lang="en-US" sz="1250" dirty="0"/>
          </a:p>
        </p:txBody>
      </p:sp>
      <p:sp>
        <p:nvSpPr>
          <p:cNvPr id="23" name="Shape 21"/>
          <p:cNvSpPr/>
          <p:nvPr/>
        </p:nvSpPr>
        <p:spPr>
          <a:xfrm>
            <a:off x="9555480" y="5120640"/>
            <a:ext cx="1828800" cy="384048"/>
          </a:xfrm>
          <a:prstGeom prst="roundRect">
            <a:avLst>
              <a:gd name="adj" fmla="val 50000"/>
            </a:avLst>
          </a:prstGeom>
          <a:solidFill>
            <a:srgbClr val="172033"/>
          </a:solidFill>
          <a:ln w="12700">
            <a:solidFill>
              <a:srgbClr val="A78BFA"/>
            </a:solidFill>
            <a:prstDash val="solid"/>
          </a:ln>
        </p:spPr>
      </p:sp>
      <p:sp>
        <p:nvSpPr>
          <p:cNvPr id="24" name="Text 22"/>
          <p:cNvSpPr/>
          <p:nvPr/>
        </p:nvSpPr>
        <p:spPr>
          <a:xfrm>
            <a:off x="9555480" y="5120640"/>
            <a:ext cx="1828800" cy="384048"/>
          </a:xfrm>
          <a:prstGeom prst="rect">
            <a:avLst/>
          </a:prstGeom>
          <a:noFill/>
          <a:ln/>
        </p:spPr>
        <p:txBody>
          <a:bodyPr wrap="square" lIns="0" tIns="0" rIns="0" bIns="0" rtlCol="0" anchor="ctr"/>
          <a:lstStyle/>
          <a:p>
            <a:pPr algn="ctr" indent="0" marL="0">
              <a:buNone/>
            </a:pPr>
            <a:r>
              <a:rPr lang="en-US" sz="1250" b="1" dirty="0">
                <a:solidFill>
                  <a:srgbClr val="A78BFA"/>
                </a:solidFill>
                <a:latin typeface="Calibri" pitchFamily="34" charset="0"/>
                <a:ea typeface="Calibri" pitchFamily="34" charset="-122"/>
                <a:cs typeface="Calibri" pitchFamily="34" charset="-120"/>
              </a:rPr>
              <a:t>design only</a:t>
            </a:r>
            <a:endParaRPr lang="en-US" sz="1250" dirty="0"/>
          </a:p>
        </p:txBody>
      </p:sp>
      <p:sp>
        <p:nvSpPr>
          <p:cNvPr id="25" name="Text 23"/>
          <p:cNvSpPr/>
          <p:nvPr/>
        </p:nvSpPr>
        <p:spPr>
          <a:xfrm>
            <a:off x="548640" y="6400800"/>
            <a:ext cx="4572000" cy="292608"/>
          </a:xfrm>
          <a:prstGeom prst="rect">
            <a:avLst/>
          </a:prstGeom>
          <a:noFill/>
          <a:ln/>
        </p:spPr>
        <p:txBody>
          <a:bodyPr wrap="square" lIns="0" tIns="0" rIns="0" bIns="0" rtlCol="0" anchor="ctr"/>
          <a:lstStyle/>
          <a:p>
            <a:pPr indent="0" marL="0">
              <a:buNone/>
            </a:pPr>
            <a:r>
              <a:rPr lang="en-US" sz="1000" b="1" spc="200" kern="0" dirty="0">
                <a:solidFill>
                  <a:srgbClr val="94A3B8"/>
                </a:solidFill>
                <a:latin typeface="Calibri" pitchFamily="34" charset="0"/>
                <a:ea typeface="Calibri" pitchFamily="34" charset="-122"/>
                <a:cs typeface="Calibri" pitchFamily="34" charset="-120"/>
              </a:rPr>
              <a:t>AGENTIC-DART</a:t>
            </a:r>
            <a:endParaRPr lang="en-US" sz="1000" dirty="0"/>
          </a:p>
        </p:txBody>
      </p:sp>
      <p:sp>
        <p:nvSpPr>
          <p:cNvPr id="26" name="Text 24"/>
          <p:cNvSpPr/>
          <p:nvPr/>
        </p:nvSpPr>
        <p:spPr>
          <a:xfrm>
            <a:off x="10881360" y="6400800"/>
            <a:ext cx="731520" cy="292608"/>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 / 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2011680" y="-2011680"/>
            <a:ext cx="5852160" cy="5852160"/>
          </a:xfrm>
          <a:prstGeom prst="ellipse">
            <a:avLst/>
          </a:prstGeom>
          <a:solidFill>
            <a:srgbClr val="34D399">
              <a:alpha val="10000"/>
            </a:srgbClr>
          </a:solidFill>
          <a:ln/>
        </p:spPr>
      </p:sp>
      <p:sp>
        <p:nvSpPr>
          <p:cNvPr id="3" name="Shape 1"/>
          <p:cNvSpPr/>
          <p:nvPr/>
        </p:nvSpPr>
        <p:spPr>
          <a:xfrm>
            <a:off x="8778240" y="3657600"/>
            <a:ext cx="5486400" cy="5486400"/>
          </a:xfrm>
          <a:prstGeom prst="ellipse">
            <a:avLst/>
          </a:prstGeom>
          <a:solidFill>
            <a:srgbClr val="A78BFA">
              <a:alpha val="11000"/>
            </a:srgbClr>
          </a:solidFill>
          <a:ln/>
        </p:spPr>
      </p:sp>
      <p:sp>
        <p:nvSpPr>
          <p:cNvPr id="4" name="Text 2"/>
          <p:cNvSpPr/>
          <p:nvPr/>
        </p:nvSpPr>
        <p:spPr>
          <a:xfrm>
            <a:off x="914400" y="2011680"/>
            <a:ext cx="10332720" cy="822960"/>
          </a:xfrm>
          <a:prstGeom prst="rect">
            <a:avLst/>
          </a:prstGeom>
          <a:noFill/>
          <a:ln/>
        </p:spPr>
        <p:txBody>
          <a:bodyPr wrap="square" lIns="0" tIns="0" rIns="0" bIns="0" rtlCol="0" anchor="ctr"/>
          <a:lstStyle/>
          <a:p>
            <a:pPr indent="0" marL="0">
              <a:buNone/>
            </a:pPr>
            <a:r>
              <a:rPr lang="en-US" sz="3400" b="1" dirty="0">
                <a:solidFill>
                  <a:srgbClr val="E2E8F0"/>
                </a:solidFill>
                <a:latin typeface="Cambria" pitchFamily="34" charset="0"/>
                <a:ea typeface="Cambria" pitchFamily="34" charset="-122"/>
                <a:cs typeface="Cambria" pitchFamily="34" charset="-120"/>
              </a:rPr>
              <a:t>The honest claim isn't “we are perfect.”</a:t>
            </a:r>
            <a:endParaRPr lang="en-US" sz="3400" dirty="0"/>
          </a:p>
        </p:txBody>
      </p:sp>
      <p:sp>
        <p:nvSpPr>
          <p:cNvPr id="5" name="Text 3"/>
          <p:cNvSpPr/>
          <p:nvPr/>
        </p:nvSpPr>
        <p:spPr>
          <a:xfrm>
            <a:off x="914400" y="2880360"/>
            <a:ext cx="10332720" cy="914400"/>
          </a:xfrm>
          <a:prstGeom prst="rect">
            <a:avLst/>
          </a:prstGeom>
          <a:noFill/>
          <a:ln/>
        </p:spPr>
        <p:txBody>
          <a:bodyPr wrap="square" lIns="0" tIns="0" rIns="0" bIns="0" rtlCol="0" anchor="ctr"/>
          <a:lstStyle/>
          <a:p>
            <a:pPr indent="0" marL="0">
              <a:lnSpc>
                <a:spcPct val="120000"/>
              </a:lnSpc>
              <a:buNone/>
            </a:pPr>
            <a:r>
              <a:rPr lang="en-US" sz="2000" dirty="0">
                <a:solidFill>
                  <a:srgbClr val="94A3B8"/>
                </a:solidFill>
                <a:latin typeface="Calibri" pitchFamily="34" charset="0"/>
                <a:ea typeface="Calibri" pitchFamily="34" charset="-122"/>
                <a:cs typeface="Calibri" pitchFamily="34" charset="-120"/>
              </a:rPr>
              <a:t>It's that every number is measured, every finding is traceable, and the limits are not hidden.</a:t>
            </a:r>
            <a:endParaRPr lang="en-US" sz="2000" dirty="0"/>
          </a:p>
        </p:txBody>
      </p:sp>
      <p:sp>
        <p:nvSpPr>
          <p:cNvPr id="6" name="Text 4"/>
          <p:cNvSpPr/>
          <p:nvPr/>
        </p:nvSpPr>
        <p:spPr>
          <a:xfrm>
            <a:off x="914400" y="3977640"/>
            <a:ext cx="10332720" cy="640080"/>
          </a:xfrm>
          <a:prstGeom prst="rect">
            <a:avLst/>
          </a:prstGeom>
          <a:noFill/>
          <a:ln/>
        </p:spPr>
        <p:txBody>
          <a:bodyPr wrap="square" lIns="0" tIns="0" rIns="0" bIns="0" rtlCol="0" anchor="ctr"/>
          <a:lstStyle/>
          <a:p>
            <a:pPr indent="0" marL="0">
              <a:buNone/>
            </a:pPr>
            <a:r>
              <a:rPr lang="en-US" sz="2400" b="1" i="1" dirty="0">
                <a:solidFill>
                  <a:srgbClr val="34D399"/>
                </a:solidFill>
                <a:latin typeface="Cambria" pitchFamily="34" charset="0"/>
                <a:ea typeface="Cambria" pitchFamily="34" charset="-122"/>
                <a:cs typeface="Cambria" pitchFamily="34" charset="-120"/>
              </a:rPr>
              <a:t>Analysis speed is security.</a:t>
            </a:r>
            <a:endParaRPr lang="en-US" sz="2400" dirty="0"/>
          </a:p>
        </p:txBody>
      </p:sp>
      <p:sp>
        <p:nvSpPr>
          <p:cNvPr id="7" name="Shape 5"/>
          <p:cNvSpPr/>
          <p:nvPr/>
        </p:nvSpPr>
        <p:spPr>
          <a:xfrm>
            <a:off x="914400" y="5029200"/>
            <a:ext cx="3108960" cy="384048"/>
          </a:xfrm>
          <a:prstGeom prst="roundRect">
            <a:avLst>
              <a:gd name="adj" fmla="val 50000"/>
            </a:avLst>
          </a:prstGeom>
          <a:solidFill>
            <a:srgbClr val="172033"/>
          </a:solidFill>
          <a:ln w="12700">
            <a:solidFill>
              <a:srgbClr val="38BDF8"/>
            </a:solidFill>
            <a:prstDash val="solid"/>
          </a:ln>
        </p:spPr>
      </p:sp>
      <p:sp>
        <p:nvSpPr>
          <p:cNvPr id="8" name="Text 6"/>
          <p:cNvSpPr/>
          <p:nvPr/>
        </p:nvSpPr>
        <p:spPr>
          <a:xfrm>
            <a:off x="914400" y="5029200"/>
            <a:ext cx="3108960" cy="384048"/>
          </a:xfrm>
          <a:prstGeom prst="rect">
            <a:avLst/>
          </a:prstGeom>
          <a:noFill/>
          <a:ln/>
        </p:spPr>
        <p:txBody>
          <a:bodyPr wrap="square" lIns="0" tIns="0" rIns="0" bIns="0" rtlCol="0" anchor="ctr"/>
          <a:lstStyle/>
          <a:p>
            <a:pPr algn="ctr" indent="0" marL="0">
              <a:buNone/>
            </a:pPr>
            <a:r>
              <a:rPr lang="en-US" sz="1250" b="1" dirty="0">
                <a:solidFill>
                  <a:srgbClr val="38BDF8"/>
                </a:solidFill>
                <a:latin typeface="Calibri" pitchFamily="34" charset="0"/>
                <a:ea typeface="Calibri" pitchFamily="34" charset="-122"/>
                <a:cs typeface="Calibri" pitchFamily="34" charset="-120"/>
              </a:rPr>
              <a:t>github.com/Juwon1405/agentic-dart</a:t>
            </a:r>
            <a:endParaRPr lang="en-US" sz="1250" dirty="0"/>
          </a:p>
        </p:txBody>
      </p:sp>
      <p:sp>
        <p:nvSpPr>
          <p:cNvPr id="9" name="Text 7"/>
          <p:cNvSpPr/>
          <p:nvPr/>
        </p:nvSpPr>
        <p:spPr>
          <a:xfrm>
            <a:off x="4206240" y="5029200"/>
            <a:ext cx="7315200" cy="384048"/>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Agentic-DART  ·  SANS FIND EVIL! 2026  ·  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Agentic-DART — SANS FIND EVIL! 2026</dc:title>
  <dc:subject>PptxGenJS Presentation</dc:subject>
  <dc:creator>Juwon1405</dc:creator>
  <cp:lastModifiedBy>Juwon1405</cp:lastModifiedBy>
  <cp:revision>1</cp:revision>
  <dcterms:created xsi:type="dcterms:W3CDTF">2026-06-15T19:15:23Z</dcterms:created>
  <dcterms:modified xsi:type="dcterms:W3CDTF">2026-06-15T19:15:23Z</dcterms:modified>
</cp:coreProperties>
</file>